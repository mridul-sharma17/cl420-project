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0:00 to 0:15.</a:t>
            </a:r>
          </a:p>
          <a:p>
            <a:r>
              <a:t>Good morning. Our project studies the dynamic comparison of Monod and substrate inhibition models for recombinant lipase production in a methanol fed batch bioreactor. We use a published Pichia pastoris process and simulate its behaviour under different feeding strategies.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0:15 to 1:00.</a:t>
            </a:r>
          </a:p>
          <a:p>
            <a:r>
              <a:t>The process uses Pichia pastoris as the host organism and produces recombinant Rhizopus oryzae lipase. Methanol has two roles. It is the carbon and energy source, and it induces the AOX1 promoter that supports recombinant product formation.</a:t>
            </a:r>
          </a:p>
          <a:p>
            <a:endParaRPr/>
          </a:p>
          <a:p>
            <a:r>
              <a:t>This creates the central process tradeoff. Too little methanol can limit growth. Too much methanol can inhibit growth and product formation. Our study asks how Monod and substrate inhibition models represent this tradeoff under the same reactor operation.</a:t>
            </a:r>
          </a:p>
          <a:p>
            <a:endParaRPr/>
          </a:p>
          <a:p>
            <a:r>
              <a:t>Transition to Speaker 2. The next slide explains the two kinetic assumptions.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1:00 to 1:30.</a:t>
            </a:r>
          </a:p>
          <a:p>
            <a:r>
              <a:t>The Monod model assumes that the rate increases with methanol and then reaches saturation. The substrate inhibition model includes a high-substrate penalty. Its rate rises, reaches a maximum, and then decreases.</a:t>
            </a:r>
          </a:p>
          <a:p>
            <a:endParaRPr/>
          </a:p>
          <a:p>
            <a:r>
              <a:t>Using the published parameters, the growth rate peaks near 1.9 grams per litre, while product formation peaks near 3.5 grams per litre. This difference means that the best methanol concentration for cell growth is not exactly the best concentration for lipase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1:30 to 2:00.</a:t>
            </a:r>
          </a:p>
          <a:p>
            <a:r>
              <a:t>Point to the four-state vector on the left. These states are reactor volume, total biomass, total methanol, and total product activity.</a:t>
            </a:r>
          </a:p>
          <a:p>
            <a:endParaRPr/>
          </a:p>
          <a:p>
            <a:r>
              <a:t>Point to the four balance equations. The first describes volume increase through feeding. The second describes biomass growth. The third describes methanol feed minus cellular uptake. The fourth describes product formation.</a:t>
            </a:r>
          </a:p>
          <a:p>
            <a:endParaRPr/>
          </a:p>
          <a:p>
            <a:r>
              <a:t>Point to the interpretation labels on the right. The equations convert kinetic rates into reactor trajectories. The four feeding strategies and their results are shown next.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2:00 to 2:40.</a:t>
            </a:r>
          </a:p>
          <a:p>
            <a:r>
              <a:t>Point to the CF, CM, LM, and CS labels in the original report figure. The constant-substrate strategy gives the strongest predicted performance. Under the substrate inhibition model, CS gives a final product activity of 255.01 units per millilitre and a volumetric productivity of about 10,057 units per litre per hour.</a:t>
            </a:r>
          </a:p>
          <a:p>
            <a:endParaRPr/>
          </a:p>
          <a:p>
            <a:r>
              <a:t>The Monod model predicts a higher CS product value of 266.18 units per millilitre because it excludes substrate inhibition. This difference comes from the kinetic assumption, not from a change in the initial conditions or the feed strategy.</a:t>
            </a:r>
          </a:p>
          <a:p>
            <a:endParaRPr/>
          </a:p>
          <a:p>
            <a:r>
              <a:t>The linearly increasing strategy performs worst because it takes the longest time to reach the biomass limit and gives lower productivity.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2:40 to 3:00.</a:t>
            </a:r>
          </a:p>
          <a:p>
            <a:r>
              <a:t>The final engineering result is oxygen demand. CS gives the best product performance, but it also gives the highest oxygen requirement. For the substrate inhibition CS case, the maximum total oxygen uptake rate is about 1.437 moles of oxygen per hour.</a:t>
            </a:r>
          </a:p>
          <a:p>
            <a:endParaRPr/>
          </a:p>
          <a:p>
            <a:r>
              <a:t>Therefore, the best product strategy still needs a reactor feasibility check. The next design step is to compare oxygen demand with oxygen transfer rate and kLa. In conclusion, the kinetic model changes the predicted operating decision. Thank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7465578-B2E4-4091-A5F5-66CF8822B8A7}"/>
              </a:ext>
            </a:extLst>
          </p:cNvPr>
          <p:cNvSpPr>
            <a:spLocks noGrp="1"/>
          </p:cNvSpPr>
          <p:nvPr/>
        </p:nvSpPr>
        <p:spPr>
          <a:xfrm>
            <a:off x="1047750" y="438150"/>
            <a:ext cx="7239000" cy="171450"/>
          </a:xfrm>
          <a:prstGeom prst="rect">
            <a:avLst/>
          </a:prstGeom>
          <a:noFill/>
          <a:ln w="0">
            <a:noFill/>
            <a:prstDash val="solid"/>
          </a:ln>
        </p:spPr>
        <p:txBody>
          <a:bodyPr/>
          <a:lstStyle/>
          <a:p>
            <a:pPr>
              <a:buNone/>
              <a:defRPr sz="900" b="1" i="0">
                <a:solidFill>
                  <a:srgbClr val="9B9B9B"/>
                </a:solidFill>
                <a:latin typeface="Poppins"/>
                <a:ea typeface="Poppins"/>
                <a:cs typeface="Poppins"/>
              </a:defRPr>
            </a:pPr>
            <a:r>
              <a:rPr sz="900" b="1" i="0">
                <a:solidFill>
                  <a:srgbClr val="9B9B9B"/>
                </a:solidFill>
                <a:latin typeface="Poppins"/>
                <a:ea typeface="Poppins"/>
                <a:cs typeface="Poppins"/>
              </a:rPr>
              <a:t>CL420 MID TERM PROJECT SUBMISSION</a:t>
            </a:r>
          </a:p>
        </p:txBody>
      </p:sp>
      <p:sp>
        <p:nvSpPr>
          <p:cNvPr id="2" name="Rectangle 1">
            <a:extLst>
              <a:ext uri="{FF2B5EF4-FFF2-40B4-BE49-F238E27FC236}">
                <a16:creationId xmlns:a16="http://schemas.microsoft.com/office/drawing/2014/main" id="{A65E53D8-B8E2-4C18-B145-0DE96292A864}"/>
              </a:ext>
            </a:extLst>
          </p:cNvPr>
          <p:cNvSpPr>
            <a:spLocks noGrp="1"/>
          </p:cNvSpPr>
          <p:nvPr/>
        </p:nvSpPr>
        <p:spPr>
          <a:xfrm>
            <a:off x="1047750" y="1428750"/>
            <a:ext cx="10096500" cy="1238250"/>
          </a:xfrm>
          <a:prstGeom prst="rect">
            <a:avLst/>
          </a:prstGeom>
          <a:noFill/>
          <a:ln w="0">
            <a:noFill/>
            <a:prstDash val="solid"/>
          </a:ln>
        </p:spPr>
        <p:txBody>
          <a:bodyPr/>
          <a:lstStyle/>
          <a:p>
            <a:pPr>
              <a:buNone/>
              <a:defRPr sz="3750" b="1" i="0">
                <a:solidFill>
                  <a:srgbClr val="111111"/>
                </a:solidFill>
                <a:latin typeface="Poppins"/>
                <a:ea typeface="Poppins"/>
                <a:cs typeface="Poppins"/>
              </a:defRPr>
            </a:pPr>
            <a:r>
              <a:rPr sz="3750" b="1" i="0">
                <a:solidFill>
                  <a:srgbClr val="111111"/>
                </a:solidFill>
                <a:latin typeface="Poppins"/>
                <a:ea typeface="Poppins"/>
                <a:cs typeface="Poppins"/>
              </a:rPr>
              <a:t>Dynamic comparison of Monod</a:t>
            </a:r>
          </a:p>
          <a:p>
            <a:pPr>
              <a:buNone/>
              <a:defRPr sz="3750" b="1" i="0">
                <a:solidFill>
                  <a:srgbClr val="111111"/>
                </a:solidFill>
                <a:latin typeface="Poppins"/>
                <a:ea typeface="Poppins"/>
                <a:cs typeface="Poppins"/>
              </a:defRPr>
            </a:pPr>
            <a:r>
              <a:rPr sz="3750" b="1" i="0">
                <a:solidFill>
                  <a:srgbClr val="111111"/>
                </a:solidFill>
                <a:latin typeface="Poppins"/>
                <a:ea typeface="Poppins"/>
                <a:cs typeface="Poppins"/>
              </a:rPr>
              <a:t>and substrate inhibition models</a:t>
            </a:r>
          </a:p>
        </p:txBody>
      </p:sp>
      <p:sp>
        <p:nvSpPr>
          <p:cNvPr id="3" name="Straight Connector 2">
            <a:extLst>
              <a:ext uri="{FF2B5EF4-FFF2-40B4-BE49-F238E27FC236}">
                <a16:creationId xmlns:a16="http://schemas.microsoft.com/office/drawing/2014/main" id="{76BE34F4-CD26-4B7E-B6C5-BB80DEA792CD}"/>
              </a:ext>
            </a:extLst>
          </p:cNvPr>
          <p:cNvSpPr>
            <a:spLocks noGrp="1"/>
          </p:cNvSpPr>
          <p:nvPr/>
        </p:nvSpPr>
        <p:spPr>
          <a:xfrm flipV="1">
            <a:off x="1047750" y="2791131"/>
            <a:ext cx="7997927" cy="28268"/>
          </a:xfrm>
          <a:prstGeom prst="line">
            <a:avLst/>
          </a:prstGeom>
          <a:noFill/>
          <a:ln w="76200">
            <a:solidFill>
              <a:srgbClr val="FF6B00"/>
            </a:solidFill>
            <a:prstDash val="solid"/>
          </a:ln>
        </p:spPr>
      </p:sp>
      <p:sp>
        <p:nvSpPr>
          <p:cNvPr id="4" name="Rectangle 3">
            <a:extLst>
              <a:ext uri="{FF2B5EF4-FFF2-40B4-BE49-F238E27FC236}">
                <a16:creationId xmlns:a16="http://schemas.microsoft.com/office/drawing/2014/main" id="{110B4982-1E1B-4AC8-B4F4-62AC6A07A5EF}"/>
              </a:ext>
            </a:extLst>
          </p:cNvPr>
          <p:cNvSpPr>
            <a:spLocks noGrp="1"/>
          </p:cNvSpPr>
          <p:nvPr/>
        </p:nvSpPr>
        <p:spPr>
          <a:xfrm>
            <a:off x="1047750" y="3429000"/>
            <a:ext cx="6667500" cy="523875"/>
          </a:xfrm>
          <a:prstGeom prst="rect">
            <a:avLst/>
          </a:prstGeom>
          <a:noFill/>
          <a:ln w="0">
            <a:noFill/>
            <a:prstDash val="solid"/>
          </a:ln>
        </p:spPr>
        <p:txBody>
          <a:bodyPr/>
          <a:lstStyle/>
          <a:p>
            <a:pPr>
              <a:buNone/>
              <a:defRPr sz="2025" b="0" i="0">
                <a:solidFill>
                  <a:srgbClr val="111111"/>
                </a:solidFill>
                <a:latin typeface="Poppins"/>
                <a:ea typeface="Poppins"/>
                <a:cs typeface="Poppins"/>
              </a:defRPr>
            </a:pPr>
            <a:r>
              <a:rPr sz="2025" b="0" i="0">
                <a:solidFill>
                  <a:srgbClr val="111111"/>
                </a:solidFill>
                <a:latin typeface="Poppins"/>
                <a:ea typeface="Poppins"/>
                <a:cs typeface="Poppins"/>
              </a:rPr>
              <a:t>Recombinant lipase production in a methanol fed batch bioreactor</a:t>
            </a:r>
          </a:p>
        </p:txBody>
      </p:sp>
      <p:sp>
        <p:nvSpPr>
          <p:cNvPr id="5" name="Rectangle 4">
            <a:extLst>
              <a:ext uri="{FF2B5EF4-FFF2-40B4-BE49-F238E27FC236}">
                <a16:creationId xmlns:a16="http://schemas.microsoft.com/office/drawing/2014/main" id="{FA75F442-17DB-4B5B-A2D6-38CAD409CDA7}"/>
              </a:ext>
            </a:extLst>
          </p:cNvPr>
          <p:cNvSpPr>
            <a:spLocks noGrp="1"/>
          </p:cNvSpPr>
          <p:nvPr/>
        </p:nvSpPr>
        <p:spPr>
          <a:xfrm>
            <a:off x="1047750" y="5334000"/>
            <a:ext cx="6858000" cy="266700"/>
          </a:xfrm>
          <a:prstGeom prst="rect">
            <a:avLst/>
          </a:prstGeom>
          <a:noFill/>
          <a:ln w="0">
            <a:noFill/>
            <a:prstDash val="solid"/>
          </a:ln>
        </p:spPr>
        <p:txBody>
          <a:bodyPr/>
          <a:lstStyle/>
          <a:p>
            <a:pPr>
              <a:buNone/>
              <a:defRPr sz="1350" b="0" i="0">
                <a:solidFill>
                  <a:srgbClr val="111111"/>
                </a:solidFill>
                <a:latin typeface="Poppins"/>
                <a:ea typeface="Poppins"/>
                <a:cs typeface="Poppins"/>
              </a:defRPr>
            </a:pPr>
            <a:r>
              <a:rPr sz="1350" b="0" i="0">
                <a:solidFill>
                  <a:srgbClr val="111111"/>
                </a:solidFill>
                <a:latin typeface="Poppins"/>
                <a:ea typeface="Poppins"/>
                <a:cs typeface="Poppins"/>
              </a:rPr>
              <a:t>Mridul Sharma  ·  Sneha Shandilya  ·  Diggaj Maheshwari</a:t>
            </a:r>
          </a:p>
        </p:txBody>
      </p:sp>
    </p:spTree>
    <p:extLst>
      <p:ext uri="{BB962C8B-B14F-4D97-AF65-F5344CB8AC3E}">
        <p14:creationId xmlns:p14="http://schemas.microsoft.com/office/powerpoint/2010/main" val="741699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0CF756B-58B6-49CE-9B28-2080EDBBE1C7}"/>
              </a:ext>
            </a:extLst>
          </p:cNvPr>
          <p:cNvSpPr>
            <a:spLocks noGrp="1"/>
          </p:cNvSpPr>
          <p:nvPr/>
        </p:nvSpPr>
        <p:spPr>
          <a:xfrm>
            <a:off x="1047750" y="323850"/>
            <a:ext cx="7239000" cy="171450"/>
          </a:xfrm>
          <a:prstGeom prst="rect">
            <a:avLst/>
          </a:prstGeom>
          <a:noFill/>
          <a:ln w="0">
            <a:noFill/>
            <a:prstDash val="solid"/>
          </a:ln>
        </p:spPr>
        <p:txBody>
          <a:bodyPr/>
          <a:lstStyle/>
          <a:p>
            <a:pPr>
              <a:buNone/>
              <a:defRPr sz="900" b="1" i="0">
                <a:solidFill>
                  <a:srgbClr val="9B9B9B"/>
                </a:solidFill>
                <a:latin typeface="Poppins"/>
                <a:ea typeface="Poppins"/>
                <a:cs typeface="Poppins"/>
              </a:defRPr>
            </a:pPr>
            <a:r>
              <a:rPr sz="900" b="1" i="0">
                <a:solidFill>
                  <a:srgbClr val="9B9B9B"/>
                </a:solidFill>
                <a:latin typeface="Poppins"/>
                <a:ea typeface="Poppins"/>
                <a:cs typeface="Poppins"/>
              </a:rPr>
              <a:t>PROCESS</a:t>
            </a:r>
          </a:p>
        </p:txBody>
      </p:sp>
      <p:sp>
        <p:nvSpPr>
          <p:cNvPr id="2" name="Rectangle 1">
            <a:extLst>
              <a:ext uri="{FF2B5EF4-FFF2-40B4-BE49-F238E27FC236}">
                <a16:creationId xmlns:a16="http://schemas.microsoft.com/office/drawing/2014/main" id="{B4A569D6-6222-4A47-98AE-3437A1E344B8}"/>
              </a:ext>
            </a:extLst>
          </p:cNvPr>
          <p:cNvSpPr>
            <a:spLocks noGrp="1"/>
          </p:cNvSpPr>
          <p:nvPr/>
        </p:nvSpPr>
        <p:spPr>
          <a:xfrm>
            <a:off x="1047750" y="685800"/>
            <a:ext cx="10001250" cy="809625"/>
          </a:xfrm>
          <a:prstGeom prst="rect">
            <a:avLst/>
          </a:prstGeom>
          <a:noFill/>
          <a:ln w="0">
            <a:noFill/>
            <a:prstDash val="solid"/>
          </a:ln>
        </p:spPr>
        <p:txBody>
          <a:bodyPr/>
          <a:lstStyle/>
          <a:p>
            <a:pPr>
              <a:buNone/>
              <a:defRPr sz="3600" b="1" i="0">
                <a:solidFill>
                  <a:srgbClr val="111111"/>
                </a:solidFill>
                <a:latin typeface="Poppins"/>
                <a:ea typeface="Poppins"/>
                <a:cs typeface="Poppins"/>
              </a:defRPr>
            </a:pPr>
            <a:r>
              <a:rPr sz="3600" b="1" i="0">
                <a:solidFill>
                  <a:srgbClr val="111111"/>
                </a:solidFill>
                <a:latin typeface="Poppins"/>
                <a:ea typeface="Poppins"/>
                <a:cs typeface="Poppins"/>
              </a:rPr>
              <a:t>Methanol is both feed and inducer</a:t>
            </a:r>
          </a:p>
        </p:txBody>
      </p:sp>
      <p:sp>
        <p:nvSpPr>
          <p:cNvPr id="3" name="Straight Connector 2">
            <a:extLst>
              <a:ext uri="{FF2B5EF4-FFF2-40B4-BE49-F238E27FC236}">
                <a16:creationId xmlns:a16="http://schemas.microsoft.com/office/drawing/2014/main" id="{4E0D1E1F-10B7-4F61-8D00-CC4109D62FF1}"/>
              </a:ext>
            </a:extLst>
          </p:cNvPr>
          <p:cNvSpPr>
            <a:spLocks noGrp="1"/>
          </p:cNvSpPr>
          <p:nvPr/>
        </p:nvSpPr>
        <p:spPr>
          <a:xfrm flipV="1">
            <a:off x="1143001" y="1304925"/>
            <a:ext cx="7981334" cy="0"/>
          </a:xfrm>
          <a:prstGeom prst="line">
            <a:avLst/>
          </a:prstGeom>
          <a:noFill/>
          <a:ln w="76200">
            <a:solidFill>
              <a:srgbClr val="FF6B00"/>
            </a:solidFill>
            <a:prstDash val="solid"/>
          </a:ln>
        </p:spPr>
      </p:sp>
      <p:sp>
        <p:nvSpPr>
          <p:cNvPr id="4" name="Rectangle 3">
            <a:extLst>
              <a:ext uri="{FF2B5EF4-FFF2-40B4-BE49-F238E27FC236}">
                <a16:creationId xmlns:a16="http://schemas.microsoft.com/office/drawing/2014/main" id="{E8CAC3A8-5005-4A59-89AA-84C9EFE303FF}"/>
              </a:ext>
            </a:extLst>
          </p:cNvPr>
          <p:cNvSpPr>
            <a:spLocks noGrp="1"/>
          </p:cNvSpPr>
          <p:nvPr/>
        </p:nvSpPr>
        <p:spPr>
          <a:xfrm>
            <a:off x="1047750" y="2381250"/>
            <a:ext cx="4476750" cy="666750"/>
          </a:xfrm>
          <a:prstGeom prst="rect">
            <a:avLst/>
          </a:prstGeom>
          <a:noFill/>
          <a:ln w="0">
            <a:noFill/>
            <a:prstDash val="solid"/>
          </a:ln>
        </p:spPr>
        <p:txBody>
          <a:bodyPr/>
          <a:lstStyle/>
          <a:p>
            <a:pPr>
              <a:buNone/>
              <a:defRPr sz="3600" b="1" i="0">
                <a:solidFill>
                  <a:srgbClr val="111111"/>
                </a:solidFill>
                <a:latin typeface="Poppins"/>
                <a:ea typeface="Poppins"/>
                <a:cs typeface="Poppins"/>
              </a:defRPr>
            </a:pPr>
            <a:r>
              <a:rPr sz="3600" b="1" i="0">
                <a:solidFill>
                  <a:srgbClr val="111111"/>
                </a:solidFill>
                <a:latin typeface="Poppins"/>
                <a:ea typeface="Poppins"/>
                <a:cs typeface="Poppins"/>
              </a:rPr>
              <a:t>Pichia pastoris</a:t>
            </a:r>
          </a:p>
        </p:txBody>
      </p:sp>
      <p:sp>
        <p:nvSpPr>
          <p:cNvPr id="5" name="Rectangle 4">
            <a:extLst>
              <a:ext uri="{FF2B5EF4-FFF2-40B4-BE49-F238E27FC236}">
                <a16:creationId xmlns:a16="http://schemas.microsoft.com/office/drawing/2014/main" id="{C633BA55-6EA1-419B-99AC-88F710A71F7B}"/>
              </a:ext>
            </a:extLst>
          </p:cNvPr>
          <p:cNvSpPr>
            <a:spLocks noGrp="1"/>
          </p:cNvSpPr>
          <p:nvPr/>
        </p:nvSpPr>
        <p:spPr>
          <a:xfrm>
            <a:off x="1047750" y="3095625"/>
            <a:ext cx="3238500" cy="285750"/>
          </a:xfrm>
          <a:prstGeom prst="rect">
            <a:avLst/>
          </a:prstGeom>
          <a:noFill/>
          <a:ln w="0">
            <a:noFill/>
            <a:prstDash val="solid"/>
          </a:ln>
        </p:spPr>
        <p:txBody>
          <a:bodyPr/>
          <a:lstStyle/>
          <a:p>
            <a:pPr>
              <a:buNone/>
              <a:defRPr sz="1800" b="0" i="0">
                <a:solidFill>
                  <a:srgbClr val="9B9B9B"/>
                </a:solidFill>
                <a:latin typeface="Poppins"/>
                <a:ea typeface="Poppins"/>
                <a:cs typeface="Poppins"/>
              </a:defRPr>
            </a:pPr>
            <a:r>
              <a:rPr sz="1800" b="0" i="0">
                <a:solidFill>
                  <a:srgbClr val="9B9B9B"/>
                </a:solidFill>
                <a:latin typeface="Poppins"/>
                <a:ea typeface="Poppins"/>
                <a:cs typeface="Poppins"/>
              </a:rPr>
              <a:t>Yeast cell factory</a:t>
            </a:r>
          </a:p>
        </p:txBody>
      </p:sp>
      <p:sp>
        <p:nvSpPr>
          <p:cNvPr id="6" name="Rectangle 5">
            <a:extLst>
              <a:ext uri="{FF2B5EF4-FFF2-40B4-BE49-F238E27FC236}">
                <a16:creationId xmlns:a16="http://schemas.microsoft.com/office/drawing/2014/main" id="{90149385-D6AD-4AF9-81EC-E3ADDA23B6E5}"/>
              </a:ext>
            </a:extLst>
          </p:cNvPr>
          <p:cNvSpPr>
            <a:spLocks noGrp="1"/>
          </p:cNvSpPr>
          <p:nvPr/>
        </p:nvSpPr>
        <p:spPr>
          <a:xfrm>
            <a:off x="1047750" y="4000500"/>
            <a:ext cx="5334000" cy="742950"/>
          </a:xfrm>
          <a:prstGeom prst="rect">
            <a:avLst/>
          </a:prstGeom>
          <a:noFill/>
          <a:ln w="0">
            <a:noFill/>
            <a:prstDash val="solid"/>
          </a:ln>
        </p:spPr>
        <p:txBody>
          <a:bodyPr/>
          <a:lstStyle/>
          <a:p>
            <a:pPr>
              <a:buNone/>
              <a:defRPr sz="2250" b="1" i="0">
                <a:solidFill>
                  <a:srgbClr val="111111"/>
                </a:solidFill>
                <a:latin typeface="Poppins"/>
                <a:ea typeface="Poppins"/>
                <a:cs typeface="Poppins"/>
              </a:defRPr>
            </a:pPr>
            <a:r>
              <a:rPr sz="2250" b="1" i="0">
                <a:solidFill>
                  <a:srgbClr val="111111"/>
                </a:solidFill>
                <a:latin typeface="Poppins"/>
                <a:ea typeface="Poppins"/>
                <a:cs typeface="Poppins"/>
              </a:rPr>
              <a:t>Recombinant Rhizopus oryzae lipase</a:t>
            </a:r>
          </a:p>
        </p:txBody>
      </p:sp>
      <p:sp>
        <p:nvSpPr>
          <p:cNvPr id="7" name="Rectangle 6">
            <a:extLst>
              <a:ext uri="{FF2B5EF4-FFF2-40B4-BE49-F238E27FC236}">
                <a16:creationId xmlns:a16="http://schemas.microsoft.com/office/drawing/2014/main" id="{6D0A524D-ADA9-45BA-88AF-A103B23393C5}"/>
              </a:ext>
            </a:extLst>
          </p:cNvPr>
          <p:cNvSpPr>
            <a:spLocks noGrp="1"/>
          </p:cNvSpPr>
          <p:nvPr/>
        </p:nvSpPr>
        <p:spPr>
          <a:xfrm>
            <a:off x="1047750" y="4905375"/>
            <a:ext cx="2857500" cy="285750"/>
          </a:xfrm>
          <a:prstGeom prst="rect">
            <a:avLst/>
          </a:prstGeom>
          <a:noFill/>
          <a:ln w="0">
            <a:noFill/>
            <a:prstDash val="solid"/>
          </a:ln>
        </p:spPr>
        <p:txBody>
          <a:bodyPr/>
          <a:lstStyle/>
          <a:p>
            <a:pPr>
              <a:buNone/>
              <a:defRPr sz="1800" b="0" i="0">
                <a:solidFill>
                  <a:srgbClr val="9B9B9B"/>
                </a:solidFill>
                <a:latin typeface="Poppins"/>
                <a:ea typeface="Poppins"/>
                <a:cs typeface="Poppins"/>
              </a:defRPr>
            </a:pPr>
            <a:r>
              <a:rPr sz="1800" b="0" i="0">
                <a:solidFill>
                  <a:srgbClr val="9B9B9B"/>
                </a:solidFill>
                <a:latin typeface="Poppins"/>
                <a:ea typeface="Poppins"/>
                <a:cs typeface="Poppins"/>
              </a:rPr>
              <a:t>Product activity, U/mL</a:t>
            </a:r>
          </a:p>
        </p:txBody>
      </p:sp>
      <p:sp>
        <p:nvSpPr>
          <p:cNvPr id="8" name="Rectangle 7">
            <a:extLst>
              <a:ext uri="{FF2B5EF4-FFF2-40B4-BE49-F238E27FC236}">
                <a16:creationId xmlns:a16="http://schemas.microsoft.com/office/drawing/2014/main" id="{7EE0EDCE-9502-4BCD-B014-8B8DA67D52A5}"/>
              </a:ext>
            </a:extLst>
          </p:cNvPr>
          <p:cNvSpPr>
            <a:spLocks noGrp="1"/>
          </p:cNvSpPr>
          <p:nvPr/>
        </p:nvSpPr>
        <p:spPr>
          <a:xfrm>
            <a:off x="6858000" y="2524125"/>
            <a:ext cx="4095750" cy="762000"/>
          </a:xfrm>
          <a:prstGeom prst="rect">
            <a:avLst/>
          </a:prstGeom>
          <a:noFill/>
          <a:ln w="0">
            <a:noFill/>
            <a:prstDash val="solid"/>
          </a:ln>
        </p:spPr>
        <p:txBody>
          <a:bodyPr/>
          <a:lstStyle/>
          <a:p>
            <a:pPr>
              <a:buNone/>
              <a:defRPr sz="2775" b="1" i="0">
                <a:solidFill>
                  <a:srgbClr val="111111"/>
                </a:solidFill>
                <a:latin typeface="Poppins"/>
                <a:ea typeface="Poppins"/>
                <a:cs typeface="Poppins"/>
              </a:defRPr>
            </a:pPr>
            <a:r>
              <a:rPr sz="2775" b="1" i="0">
                <a:solidFill>
                  <a:srgbClr val="111111"/>
                </a:solidFill>
                <a:latin typeface="Poppins"/>
                <a:ea typeface="Poppins"/>
                <a:cs typeface="Poppins"/>
              </a:rPr>
              <a:t>Methanol is the carbon source and the inducer.</a:t>
            </a:r>
          </a:p>
        </p:txBody>
      </p:sp>
      <p:sp>
        <p:nvSpPr>
          <p:cNvPr id="10" name="Rectangle 9">
            <a:extLst>
              <a:ext uri="{FF2B5EF4-FFF2-40B4-BE49-F238E27FC236}">
                <a16:creationId xmlns:a16="http://schemas.microsoft.com/office/drawing/2014/main" id="{0C228A4F-ED4C-4E5D-BFF8-E4B29F211C02}"/>
              </a:ext>
            </a:extLst>
          </p:cNvPr>
          <p:cNvSpPr>
            <a:spLocks noGrp="1"/>
          </p:cNvSpPr>
          <p:nvPr/>
        </p:nvSpPr>
        <p:spPr>
          <a:xfrm>
            <a:off x="6858000" y="4095750"/>
            <a:ext cx="4095750" cy="857250"/>
          </a:xfrm>
          <a:prstGeom prst="rect">
            <a:avLst/>
          </a:prstGeom>
          <a:noFill/>
          <a:ln w="0">
            <a:noFill/>
            <a:prstDash val="solid"/>
          </a:ln>
        </p:spPr>
        <p:txBody>
          <a:bodyPr/>
          <a:lstStyle/>
          <a:p>
            <a:pPr>
              <a:buNone/>
              <a:defRPr sz="1950" b="0" i="0">
                <a:solidFill>
                  <a:srgbClr val="111111"/>
                </a:solidFill>
                <a:latin typeface="Poppins"/>
                <a:ea typeface="Poppins"/>
                <a:cs typeface="Poppins"/>
              </a:defRPr>
            </a:pPr>
            <a:r>
              <a:rPr sz="1950" b="0" i="0">
                <a:solidFill>
                  <a:srgbClr val="111111"/>
                </a:solidFill>
                <a:latin typeface="Poppins"/>
                <a:ea typeface="Poppins"/>
                <a:cs typeface="Poppins"/>
              </a:rPr>
              <a:t>Low methanol limits growth.</a:t>
            </a:r>
          </a:p>
          <a:p>
            <a:pPr>
              <a:buNone/>
              <a:defRPr sz="1950" b="0" i="0">
                <a:solidFill>
                  <a:srgbClr val="111111"/>
                </a:solidFill>
                <a:latin typeface="Poppins"/>
                <a:ea typeface="Poppins"/>
                <a:cs typeface="Poppins"/>
              </a:defRPr>
            </a:pPr>
            <a:r>
              <a:rPr sz="1950" b="0" i="0">
                <a:solidFill>
                  <a:srgbClr val="111111"/>
                </a:solidFill>
                <a:latin typeface="Poppins"/>
                <a:ea typeface="Poppins"/>
                <a:cs typeface="Poppins"/>
              </a:rPr>
              <a:t>High methanol can inhibit the cells.</a:t>
            </a:r>
          </a:p>
        </p:txBody>
      </p:sp>
      <p:sp>
        <p:nvSpPr>
          <p:cNvPr id="11" name="Straight Connector 10">
            <a:extLst>
              <a:ext uri="{FF2B5EF4-FFF2-40B4-BE49-F238E27FC236}">
                <a16:creationId xmlns:a16="http://schemas.microsoft.com/office/drawing/2014/main" id="{F533BCFF-27C4-4E3B-AAF9-01B0E5DFC16A}"/>
              </a:ext>
            </a:extLst>
          </p:cNvPr>
          <p:cNvSpPr>
            <a:spLocks noGrp="1"/>
          </p:cNvSpPr>
          <p:nvPr/>
        </p:nvSpPr>
        <p:spPr>
          <a:xfrm>
            <a:off x="1047750" y="6477000"/>
            <a:ext cx="10382250" cy="0"/>
          </a:xfrm>
          <a:prstGeom prst="line">
            <a:avLst/>
          </a:prstGeom>
          <a:noFill/>
          <a:ln w="9525">
            <a:solidFill>
              <a:srgbClr val="111111"/>
            </a:solidFill>
            <a:prstDash val="solid"/>
          </a:ln>
        </p:spPr>
      </p:sp>
      <p:sp>
        <p:nvSpPr>
          <p:cNvPr id="12" name="Rectangle 11">
            <a:extLst>
              <a:ext uri="{FF2B5EF4-FFF2-40B4-BE49-F238E27FC236}">
                <a16:creationId xmlns:a16="http://schemas.microsoft.com/office/drawing/2014/main" id="{FC1D4376-394E-450C-8BC4-76E3E072C635}"/>
              </a:ext>
            </a:extLst>
          </p:cNvPr>
          <p:cNvSpPr>
            <a:spLocks noGrp="1"/>
          </p:cNvSpPr>
          <p:nvPr/>
        </p:nvSpPr>
        <p:spPr>
          <a:xfrm>
            <a:off x="1047750" y="6572250"/>
            <a:ext cx="104775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CL 420</a:t>
            </a:r>
          </a:p>
        </p:txBody>
      </p:sp>
      <p:sp>
        <p:nvSpPr>
          <p:cNvPr id="13" name="Rectangle 12">
            <a:extLst>
              <a:ext uri="{FF2B5EF4-FFF2-40B4-BE49-F238E27FC236}">
                <a16:creationId xmlns:a16="http://schemas.microsoft.com/office/drawing/2014/main" id="{F28A9919-18C2-42F5-B7C0-44863844B5FB}"/>
              </a:ext>
            </a:extLst>
          </p:cNvPr>
          <p:cNvSpPr>
            <a:spLocks noGrp="1"/>
          </p:cNvSpPr>
          <p:nvPr/>
        </p:nvSpPr>
        <p:spPr>
          <a:xfrm>
            <a:off x="10858500" y="6572250"/>
            <a:ext cx="30480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02</a:t>
            </a:r>
          </a:p>
        </p:txBody>
      </p:sp>
      <p:sp>
        <p:nvSpPr>
          <p:cNvPr id="16" name="Straight Connector 15">
            <a:extLst>
              <a:ext uri="{FF2B5EF4-FFF2-40B4-BE49-F238E27FC236}">
                <a16:creationId xmlns:a16="http://schemas.microsoft.com/office/drawing/2014/main" id="{F776BECD-26DE-2879-A042-3D8BD929F779}"/>
              </a:ext>
            </a:extLst>
          </p:cNvPr>
          <p:cNvSpPr>
            <a:spLocks noGrp="1"/>
          </p:cNvSpPr>
          <p:nvPr/>
        </p:nvSpPr>
        <p:spPr>
          <a:xfrm flipV="1">
            <a:off x="2972416" y="5360731"/>
            <a:ext cx="714681" cy="0"/>
          </a:xfrm>
          <a:prstGeom prst="line">
            <a:avLst/>
          </a:prstGeom>
          <a:noFill/>
          <a:ln w="76200">
            <a:solidFill>
              <a:srgbClr val="FF6B00"/>
            </a:solidFill>
            <a:prstDash val="solid"/>
          </a:ln>
        </p:spPr>
      </p:sp>
    </p:spTree>
    <p:extLst>
      <p:ext uri="{BB962C8B-B14F-4D97-AF65-F5344CB8AC3E}">
        <p14:creationId xmlns:p14="http://schemas.microsoft.com/office/powerpoint/2010/main" val="1521821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D23A9C8-47C2-4AC2-BDB0-F43F07CB0C7A}"/>
              </a:ext>
            </a:extLst>
          </p:cNvPr>
          <p:cNvSpPr>
            <a:spLocks noGrp="1"/>
          </p:cNvSpPr>
          <p:nvPr/>
        </p:nvSpPr>
        <p:spPr>
          <a:xfrm>
            <a:off x="1047750" y="323850"/>
            <a:ext cx="7239000" cy="171450"/>
          </a:xfrm>
          <a:prstGeom prst="rect">
            <a:avLst/>
          </a:prstGeom>
          <a:noFill/>
          <a:ln w="0">
            <a:noFill/>
            <a:prstDash val="solid"/>
          </a:ln>
        </p:spPr>
        <p:txBody>
          <a:bodyPr/>
          <a:lstStyle/>
          <a:p>
            <a:pPr>
              <a:buNone/>
              <a:defRPr sz="900" b="1" i="0">
                <a:solidFill>
                  <a:srgbClr val="9B9B9B"/>
                </a:solidFill>
                <a:latin typeface="Poppins"/>
                <a:ea typeface="Poppins"/>
                <a:cs typeface="Poppins"/>
              </a:defRPr>
            </a:pPr>
            <a:r>
              <a:rPr sz="900" b="1" i="0">
                <a:solidFill>
                  <a:srgbClr val="9B9B9B"/>
                </a:solidFill>
                <a:latin typeface="Poppins"/>
                <a:ea typeface="Poppins"/>
                <a:cs typeface="Poppins"/>
              </a:rPr>
              <a:t>KINETICS</a:t>
            </a:r>
          </a:p>
        </p:txBody>
      </p:sp>
      <p:sp>
        <p:nvSpPr>
          <p:cNvPr id="2" name="Rectangle 1">
            <a:extLst>
              <a:ext uri="{FF2B5EF4-FFF2-40B4-BE49-F238E27FC236}">
                <a16:creationId xmlns:a16="http://schemas.microsoft.com/office/drawing/2014/main" id="{2D7567C4-050F-4732-B8B0-1880C7ECF1E4}"/>
              </a:ext>
            </a:extLst>
          </p:cNvPr>
          <p:cNvSpPr>
            <a:spLocks noGrp="1"/>
          </p:cNvSpPr>
          <p:nvPr/>
        </p:nvSpPr>
        <p:spPr>
          <a:xfrm>
            <a:off x="1047750" y="685800"/>
            <a:ext cx="10001250" cy="809625"/>
          </a:xfrm>
          <a:prstGeom prst="rect">
            <a:avLst/>
          </a:prstGeom>
          <a:noFill/>
          <a:ln w="0">
            <a:noFill/>
            <a:prstDash val="solid"/>
          </a:ln>
        </p:spPr>
        <p:txBody>
          <a:bodyPr/>
          <a:lstStyle/>
          <a:p>
            <a:pPr>
              <a:buNone/>
              <a:defRPr sz="3600" b="1" i="0">
                <a:solidFill>
                  <a:srgbClr val="111111"/>
                </a:solidFill>
                <a:latin typeface="Poppins"/>
                <a:ea typeface="Poppins"/>
                <a:cs typeface="Poppins"/>
              </a:defRPr>
            </a:pPr>
            <a:r>
              <a:rPr sz="3600" b="1" i="0">
                <a:solidFill>
                  <a:srgbClr val="111111"/>
                </a:solidFill>
                <a:latin typeface="Poppins"/>
                <a:ea typeface="Poppins"/>
                <a:cs typeface="Poppins"/>
              </a:rPr>
              <a:t>More methanol is not always better</a:t>
            </a:r>
          </a:p>
        </p:txBody>
      </p:sp>
      <p:sp>
        <p:nvSpPr>
          <p:cNvPr id="3" name="Straight Connector 2">
            <a:extLst>
              <a:ext uri="{FF2B5EF4-FFF2-40B4-BE49-F238E27FC236}">
                <a16:creationId xmlns:a16="http://schemas.microsoft.com/office/drawing/2014/main" id="{B6DB2878-BAB2-4204-B13C-58A93E7FE3A5}"/>
              </a:ext>
            </a:extLst>
          </p:cNvPr>
          <p:cNvSpPr>
            <a:spLocks noGrp="1"/>
          </p:cNvSpPr>
          <p:nvPr/>
        </p:nvSpPr>
        <p:spPr>
          <a:xfrm>
            <a:off x="1143000" y="1353379"/>
            <a:ext cx="8315632" cy="18286"/>
          </a:xfrm>
          <a:prstGeom prst="line">
            <a:avLst/>
          </a:prstGeom>
          <a:noFill/>
          <a:ln w="76200">
            <a:solidFill>
              <a:srgbClr val="FF6B00"/>
            </a:solidFill>
            <a:prstDash val="solid"/>
          </a:ln>
        </p:spPr>
      </p:sp>
      <p:sp>
        <p:nvSpPr>
          <p:cNvPr id="4" name="Rectangle 3">
            <a:extLst>
              <a:ext uri="{FF2B5EF4-FFF2-40B4-BE49-F238E27FC236}">
                <a16:creationId xmlns:a16="http://schemas.microsoft.com/office/drawing/2014/main" id="{CA643F65-5F98-48AB-B85A-7FFDFAD7D3D9}"/>
              </a:ext>
            </a:extLst>
          </p:cNvPr>
          <p:cNvSpPr>
            <a:spLocks noGrp="1"/>
          </p:cNvSpPr>
          <p:nvPr/>
        </p:nvSpPr>
        <p:spPr>
          <a:xfrm>
            <a:off x="1047750" y="2266950"/>
            <a:ext cx="2286000" cy="438150"/>
          </a:xfrm>
          <a:prstGeom prst="rect">
            <a:avLst/>
          </a:prstGeom>
          <a:noFill/>
          <a:ln w="0">
            <a:noFill/>
            <a:prstDash val="solid"/>
          </a:ln>
        </p:spPr>
        <p:txBody>
          <a:bodyPr/>
          <a:lstStyle/>
          <a:p>
            <a:pPr>
              <a:buNone/>
              <a:defRPr sz="2550" b="1" i="0">
                <a:solidFill>
                  <a:srgbClr val="FF6B00"/>
                </a:solidFill>
                <a:latin typeface="Poppins"/>
                <a:ea typeface="Poppins"/>
                <a:cs typeface="Poppins"/>
              </a:defRPr>
            </a:pPr>
            <a:r>
              <a:rPr sz="2550" b="1" i="0">
                <a:solidFill>
                  <a:srgbClr val="FF6B00"/>
                </a:solidFill>
                <a:latin typeface="Poppins"/>
                <a:ea typeface="Poppins"/>
                <a:cs typeface="Poppins"/>
              </a:rPr>
              <a:t>Monod</a:t>
            </a:r>
          </a:p>
        </p:txBody>
      </p:sp>
      <p:sp>
        <p:nvSpPr>
          <p:cNvPr id="5" name="Rectangle 4">
            <a:extLst>
              <a:ext uri="{FF2B5EF4-FFF2-40B4-BE49-F238E27FC236}">
                <a16:creationId xmlns:a16="http://schemas.microsoft.com/office/drawing/2014/main" id="{D05B0218-B9EC-4F92-B822-17642D49255A}"/>
              </a:ext>
            </a:extLst>
          </p:cNvPr>
          <p:cNvSpPr>
            <a:spLocks noGrp="1"/>
          </p:cNvSpPr>
          <p:nvPr/>
        </p:nvSpPr>
        <p:spPr>
          <a:xfrm>
            <a:off x="1047750" y="2781300"/>
            <a:ext cx="4095750" cy="323850"/>
          </a:xfrm>
          <a:prstGeom prst="rect">
            <a:avLst/>
          </a:prstGeom>
          <a:noFill/>
          <a:ln w="0">
            <a:noFill/>
            <a:prstDash val="solid"/>
          </a:ln>
        </p:spPr>
        <p:txBody>
          <a:bodyPr/>
          <a:lstStyle/>
          <a:p>
            <a:pPr>
              <a:buNone/>
              <a:defRPr sz="1875" b="0" i="0">
                <a:solidFill>
                  <a:srgbClr val="111111"/>
                </a:solidFill>
                <a:latin typeface="Poppins"/>
                <a:ea typeface="Poppins"/>
                <a:cs typeface="Poppins"/>
              </a:defRPr>
            </a:pPr>
            <a:r>
              <a:rPr sz="1875" b="0" i="0">
                <a:solidFill>
                  <a:srgbClr val="111111"/>
                </a:solidFill>
                <a:latin typeface="Poppins"/>
                <a:ea typeface="Poppins"/>
                <a:cs typeface="Poppins"/>
              </a:rPr>
              <a:t>Rate rises, then saturates.</a:t>
            </a:r>
          </a:p>
        </p:txBody>
      </p:sp>
      <p:sp>
        <p:nvSpPr>
          <p:cNvPr id="6" name="Rectangle 5">
            <a:extLst>
              <a:ext uri="{FF2B5EF4-FFF2-40B4-BE49-F238E27FC236}">
                <a16:creationId xmlns:a16="http://schemas.microsoft.com/office/drawing/2014/main" id="{58235771-8009-488C-8277-DA295B43281B}"/>
              </a:ext>
            </a:extLst>
          </p:cNvPr>
          <p:cNvSpPr>
            <a:spLocks noGrp="1"/>
          </p:cNvSpPr>
          <p:nvPr/>
        </p:nvSpPr>
        <p:spPr>
          <a:xfrm>
            <a:off x="1047750" y="4000500"/>
            <a:ext cx="3714750" cy="438150"/>
          </a:xfrm>
          <a:prstGeom prst="rect">
            <a:avLst/>
          </a:prstGeom>
          <a:noFill/>
          <a:ln w="0">
            <a:noFill/>
            <a:prstDash val="solid"/>
          </a:ln>
        </p:spPr>
        <p:txBody>
          <a:bodyPr/>
          <a:lstStyle/>
          <a:p>
            <a:pPr>
              <a:buNone/>
              <a:defRPr sz="2550" b="1" i="0">
                <a:solidFill>
                  <a:srgbClr val="111111"/>
                </a:solidFill>
                <a:latin typeface="Poppins"/>
                <a:ea typeface="Poppins"/>
                <a:cs typeface="Poppins"/>
              </a:defRPr>
            </a:pPr>
            <a:r>
              <a:rPr sz="2550" b="1" i="0">
                <a:solidFill>
                  <a:srgbClr val="111111"/>
                </a:solidFill>
                <a:latin typeface="Poppins"/>
                <a:ea typeface="Poppins"/>
                <a:cs typeface="Poppins"/>
              </a:rPr>
              <a:t>Substrate inhibition</a:t>
            </a:r>
          </a:p>
        </p:txBody>
      </p:sp>
      <p:sp>
        <p:nvSpPr>
          <p:cNvPr id="7" name="Rectangle 6">
            <a:extLst>
              <a:ext uri="{FF2B5EF4-FFF2-40B4-BE49-F238E27FC236}">
                <a16:creationId xmlns:a16="http://schemas.microsoft.com/office/drawing/2014/main" id="{768D5305-3B66-4AFD-AA04-44DD53E995DD}"/>
              </a:ext>
            </a:extLst>
          </p:cNvPr>
          <p:cNvSpPr>
            <a:spLocks noGrp="1"/>
          </p:cNvSpPr>
          <p:nvPr/>
        </p:nvSpPr>
        <p:spPr>
          <a:xfrm>
            <a:off x="1047750" y="4514850"/>
            <a:ext cx="4095750" cy="323850"/>
          </a:xfrm>
          <a:prstGeom prst="rect">
            <a:avLst/>
          </a:prstGeom>
          <a:noFill/>
          <a:ln w="0">
            <a:noFill/>
            <a:prstDash val="solid"/>
          </a:ln>
        </p:spPr>
        <p:txBody>
          <a:bodyPr/>
          <a:lstStyle/>
          <a:p>
            <a:pPr>
              <a:buNone/>
              <a:defRPr sz="1875" b="0" i="0">
                <a:solidFill>
                  <a:srgbClr val="111111"/>
                </a:solidFill>
                <a:latin typeface="Poppins"/>
                <a:ea typeface="Poppins"/>
                <a:cs typeface="Poppins"/>
              </a:defRPr>
            </a:pPr>
            <a:r>
              <a:rPr sz="1875" b="0" i="0">
                <a:solidFill>
                  <a:srgbClr val="111111"/>
                </a:solidFill>
                <a:latin typeface="Poppins"/>
                <a:ea typeface="Poppins"/>
                <a:cs typeface="Poppins"/>
              </a:rPr>
              <a:t>Rate rises, peaks, then falls.</a:t>
            </a:r>
          </a:p>
        </p:txBody>
      </p:sp>
      <p:pic>
        <p:nvPicPr>
          <p:cNvPr id="22" name="Picture 19"/>
          <p:cNvPicPr>
            <a:picLocks noChangeAspect="1"/>
          </p:cNvPicPr>
          <p:nvPr/>
        </p:nvPicPr>
        <p:blipFill>
          <a:blip r:embed="rId3"/>
          <a:stretch/>
        </p:blipFill>
        <p:spPr>
          <a:xfrm>
            <a:off x="4945626" y="2479502"/>
            <a:ext cx="6484373" cy="2124052"/>
          </a:xfrm>
          <a:prstGeom prst="rect">
            <a:avLst/>
          </a:prstGeom>
        </p:spPr>
      </p:pic>
      <p:sp>
        <p:nvSpPr>
          <p:cNvPr id="9" name="Rectangle 8">
            <a:extLst>
              <a:ext uri="{FF2B5EF4-FFF2-40B4-BE49-F238E27FC236}">
                <a16:creationId xmlns:a16="http://schemas.microsoft.com/office/drawing/2014/main" id="{F26F4F3B-5ADE-4895-A6AB-74483AB0E643}"/>
              </a:ext>
            </a:extLst>
          </p:cNvPr>
          <p:cNvSpPr>
            <a:spLocks noGrp="1"/>
          </p:cNvSpPr>
          <p:nvPr/>
        </p:nvSpPr>
        <p:spPr>
          <a:xfrm>
            <a:off x="6191250" y="5638800"/>
            <a:ext cx="5048250" cy="247650"/>
          </a:xfrm>
          <a:prstGeom prst="rect">
            <a:avLst/>
          </a:prstGeom>
          <a:noFill/>
          <a:ln w="0">
            <a:noFill/>
            <a:prstDash val="solid"/>
          </a:ln>
        </p:spPr>
        <p:txBody>
          <a:bodyPr/>
          <a:lstStyle/>
          <a:p>
            <a:pPr>
              <a:buNone/>
              <a:defRPr sz="1350" b="1" i="0">
                <a:solidFill>
                  <a:srgbClr val="111111"/>
                </a:solidFill>
                <a:latin typeface="Poppins"/>
                <a:ea typeface="Poppins"/>
                <a:cs typeface="Poppins"/>
              </a:defRPr>
            </a:pPr>
            <a:r>
              <a:rPr sz="1350" b="1" i="0">
                <a:solidFill>
                  <a:srgbClr val="111111"/>
                </a:solidFill>
                <a:latin typeface="Poppins"/>
                <a:ea typeface="Poppins"/>
                <a:cs typeface="Poppins"/>
              </a:rPr>
              <a:t>Growth peak ≈ 1.9 g/L   |   Product peak ≈ 3.5 g/L</a:t>
            </a:r>
          </a:p>
        </p:txBody>
      </p:sp>
      <p:sp>
        <p:nvSpPr>
          <p:cNvPr id="10" name="Straight Connector 9">
            <a:extLst>
              <a:ext uri="{FF2B5EF4-FFF2-40B4-BE49-F238E27FC236}">
                <a16:creationId xmlns:a16="http://schemas.microsoft.com/office/drawing/2014/main" id="{D3ECBC9B-FFA5-4B8D-BD20-00BA2CB09301}"/>
              </a:ext>
            </a:extLst>
          </p:cNvPr>
          <p:cNvSpPr>
            <a:spLocks noGrp="1"/>
          </p:cNvSpPr>
          <p:nvPr/>
        </p:nvSpPr>
        <p:spPr>
          <a:xfrm>
            <a:off x="1047750" y="6477000"/>
            <a:ext cx="10382250" cy="0"/>
          </a:xfrm>
          <a:prstGeom prst="line">
            <a:avLst/>
          </a:prstGeom>
          <a:noFill/>
          <a:ln w="9525">
            <a:solidFill>
              <a:srgbClr val="111111"/>
            </a:solidFill>
            <a:prstDash val="solid"/>
          </a:ln>
        </p:spPr>
      </p:sp>
      <p:sp>
        <p:nvSpPr>
          <p:cNvPr id="11" name="Rectangle 10">
            <a:extLst>
              <a:ext uri="{FF2B5EF4-FFF2-40B4-BE49-F238E27FC236}">
                <a16:creationId xmlns:a16="http://schemas.microsoft.com/office/drawing/2014/main" id="{9D67E145-DA3D-467B-AE73-2448EBEBC4F1}"/>
              </a:ext>
            </a:extLst>
          </p:cNvPr>
          <p:cNvSpPr>
            <a:spLocks noGrp="1"/>
          </p:cNvSpPr>
          <p:nvPr/>
        </p:nvSpPr>
        <p:spPr>
          <a:xfrm>
            <a:off x="1047750" y="6572250"/>
            <a:ext cx="104775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CL 420</a:t>
            </a:r>
          </a:p>
        </p:txBody>
      </p:sp>
      <p:sp>
        <p:nvSpPr>
          <p:cNvPr id="12" name="Rectangle 11">
            <a:extLst>
              <a:ext uri="{FF2B5EF4-FFF2-40B4-BE49-F238E27FC236}">
                <a16:creationId xmlns:a16="http://schemas.microsoft.com/office/drawing/2014/main" id="{72F0D73A-35C2-4927-BC3D-1A7D2BB2E57A}"/>
              </a:ext>
            </a:extLst>
          </p:cNvPr>
          <p:cNvSpPr>
            <a:spLocks noGrp="1"/>
          </p:cNvSpPr>
          <p:nvPr/>
        </p:nvSpPr>
        <p:spPr>
          <a:xfrm>
            <a:off x="10858500" y="6572250"/>
            <a:ext cx="30480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03</a:t>
            </a:r>
          </a:p>
        </p:txBody>
      </p:sp>
    </p:spTree>
    <p:extLst>
      <p:ext uri="{BB962C8B-B14F-4D97-AF65-F5344CB8AC3E}">
        <p14:creationId xmlns:p14="http://schemas.microsoft.com/office/powerpoint/2010/main" val="967798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2076C94-B373-46F2-8DA5-F25F495CAFEF}"/>
              </a:ext>
            </a:extLst>
          </p:cNvPr>
          <p:cNvSpPr>
            <a:spLocks noGrp="1"/>
          </p:cNvSpPr>
          <p:nvPr/>
        </p:nvSpPr>
        <p:spPr>
          <a:xfrm>
            <a:off x="1047750" y="323850"/>
            <a:ext cx="7239000" cy="171450"/>
          </a:xfrm>
          <a:prstGeom prst="rect">
            <a:avLst/>
          </a:prstGeom>
          <a:noFill/>
          <a:ln w="0">
            <a:noFill/>
            <a:prstDash val="solid"/>
          </a:ln>
        </p:spPr>
        <p:txBody>
          <a:bodyPr/>
          <a:lstStyle/>
          <a:p>
            <a:pPr>
              <a:buNone/>
              <a:defRPr sz="900" b="1" i="0">
                <a:solidFill>
                  <a:srgbClr val="9B9B9B"/>
                </a:solidFill>
                <a:latin typeface="Poppins"/>
                <a:ea typeface="Poppins"/>
                <a:cs typeface="Poppins"/>
              </a:defRPr>
            </a:pPr>
            <a:r>
              <a:rPr sz="900" b="1" i="0">
                <a:solidFill>
                  <a:srgbClr val="9B9B9B"/>
                </a:solidFill>
                <a:latin typeface="Poppins"/>
                <a:ea typeface="Poppins"/>
                <a:cs typeface="Poppins"/>
              </a:rPr>
              <a:t>MATHEMATICAL MODEL</a:t>
            </a:r>
          </a:p>
        </p:txBody>
      </p:sp>
      <p:sp>
        <p:nvSpPr>
          <p:cNvPr id="2" name="Rectangle 1">
            <a:extLst>
              <a:ext uri="{FF2B5EF4-FFF2-40B4-BE49-F238E27FC236}">
                <a16:creationId xmlns:a16="http://schemas.microsoft.com/office/drawing/2014/main" id="{D6ADEA39-AA53-4FB5-9638-1B711CC0713A}"/>
              </a:ext>
            </a:extLst>
          </p:cNvPr>
          <p:cNvSpPr>
            <a:spLocks noGrp="1"/>
          </p:cNvSpPr>
          <p:nvPr/>
        </p:nvSpPr>
        <p:spPr>
          <a:xfrm>
            <a:off x="1047750" y="685800"/>
            <a:ext cx="10001250" cy="809625"/>
          </a:xfrm>
          <a:prstGeom prst="rect">
            <a:avLst/>
          </a:prstGeom>
          <a:noFill/>
          <a:ln w="0">
            <a:noFill/>
            <a:prstDash val="solid"/>
          </a:ln>
        </p:spPr>
        <p:txBody>
          <a:bodyPr/>
          <a:lstStyle/>
          <a:p>
            <a:pPr>
              <a:buNone/>
              <a:defRPr sz="3600" b="1" i="0">
                <a:solidFill>
                  <a:srgbClr val="111111"/>
                </a:solidFill>
                <a:latin typeface="Poppins"/>
                <a:ea typeface="Poppins"/>
                <a:cs typeface="Poppins"/>
              </a:defRPr>
            </a:pPr>
            <a:r>
              <a:rPr sz="3600" b="1" i="0">
                <a:solidFill>
                  <a:srgbClr val="111111"/>
                </a:solidFill>
                <a:latin typeface="Poppins"/>
                <a:ea typeface="Poppins"/>
                <a:cs typeface="Poppins"/>
              </a:rPr>
              <a:t>Four balances turn rates into trajectories</a:t>
            </a:r>
          </a:p>
        </p:txBody>
      </p:sp>
      <p:sp>
        <p:nvSpPr>
          <p:cNvPr id="3" name="Straight Connector 2">
            <a:extLst>
              <a:ext uri="{FF2B5EF4-FFF2-40B4-BE49-F238E27FC236}">
                <a16:creationId xmlns:a16="http://schemas.microsoft.com/office/drawing/2014/main" id="{327BF71F-A172-4622-BFC6-5E5E5732E758}"/>
              </a:ext>
            </a:extLst>
          </p:cNvPr>
          <p:cNvSpPr>
            <a:spLocks noGrp="1"/>
          </p:cNvSpPr>
          <p:nvPr/>
        </p:nvSpPr>
        <p:spPr>
          <a:xfrm>
            <a:off x="1136240" y="1373136"/>
            <a:ext cx="9674635" cy="0"/>
          </a:xfrm>
          <a:prstGeom prst="line">
            <a:avLst/>
          </a:prstGeom>
          <a:noFill/>
          <a:ln w="76200">
            <a:solidFill>
              <a:srgbClr val="FF6B00"/>
            </a:solidFill>
            <a:prstDash val="solid"/>
          </a:ln>
        </p:spPr>
      </p:sp>
      <p:sp>
        <p:nvSpPr>
          <p:cNvPr id="4" name="Rectangle 3">
            <a:extLst>
              <a:ext uri="{FF2B5EF4-FFF2-40B4-BE49-F238E27FC236}">
                <a16:creationId xmlns:a16="http://schemas.microsoft.com/office/drawing/2014/main" id="{42A7D3CD-D9CC-4B78-94EC-0FC6DAB955C1}"/>
              </a:ext>
            </a:extLst>
          </p:cNvPr>
          <p:cNvSpPr>
            <a:spLocks noGrp="1"/>
          </p:cNvSpPr>
          <p:nvPr/>
        </p:nvSpPr>
        <p:spPr>
          <a:xfrm>
            <a:off x="1047750" y="2333625"/>
            <a:ext cx="4953000" cy="590550"/>
          </a:xfrm>
          <a:prstGeom prst="rect">
            <a:avLst/>
          </a:prstGeom>
          <a:noFill/>
          <a:ln w="0">
            <a:noFill/>
            <a:prstDash val="solid"/>
          </a:ln>
        </p:spPr>
        <p:txBody>
          <a:bodyPr/>
          <a:lstStyle/>
          <a:p>
            <a:pPr>
              <a:buNone/>
              <a:defRPr sz="3900" b="1" i="0">
                <a:solidFill>
                  <a:srgbClr val="111111"/>
                </a:solidFill>
                <a:latin typeface="Poppins"/>
                <a:ea typeface="Poppins"/>
                <a:cs typeface="Poppins"/>
              </a:defRPr>
            </a:pPr>
            <a:r>
              <a:rPr sz="3900" b="1" i="0">
                <a:solidFill>
                  <a:srgbClr val="111111"/>
                </a:solidFill>
                <a:latin typeface="Poppins"/>
                <a:ea typeface="Poppins"/>
                <a:cs typeface="Poppins"/>
              </a:rPr>
              <a:t>V, XV, SV, PV</a:t>
            </a:r>
          </a:p>
        </p:txBody>
      </p:sp>
      <p:sp>
        <p:nvSpPr>
          <p:cNvPr id="5" name="Rectangle 4">
            <a:extLst>
              <a:ext uri="{FF2B5EF4-FFF2-40B4-BE49-F238E27FC236}">
                <a16:creationId xmlns:a16="http://schemas.microsoft.com/office/drawing/2014/main" id="{593AA150-D5E4-4475-A08D-3B203B2828BD}"/>
              </a:ext>
            </a:extLst>
          </p:cNvPr>
          <p:cNvSpPr>
            <a:spLocks noGrp="1"/>
          </p:cNvSpPr>
          <p:nvPr/>
        </p:nvSpPr>
        <p:spPr>
          <a:xfrm>
            <a:off x="1047750" y="3038475"/>
            <a:ext cx="4762500" cy="304800"/>
          </a:xfrm>
          <a:prstGeom prst="rect">
            <a:avLst/>
          </a:prstGeom>
          <a:noFill/>
          <a:ln w="0">
            <a:noFill/>
            <a:prstDash val="solid"/>
          </a:ln>
        </p:spPr>
        <p:txBody>
          <a:bodyPr/>
          <a:lstStyle/>
          <a:p>
            <a:pPr>
              <a:buNone/>
              <a:defRPr sz="1725" b="0" i="0">
                <a:solidFill>
                  <a:srgbClr val="9B9B9B"/>
                </a:solidFill>
                <a:latin typeface="Poppins"/>
                <a:ea typeface="Poppins"/>
                <a:cs typeface="Poppins"/>
              </a:defRPr>
            </a:pPr>
            <a:r>
              <a:rPr sz="1725" b="0" i="0">
                <a:solidFill>
                  <a:srgbClr val="9B9B9B"/>
                </a:solidFill>
                <a:latin typeface="Poppins"/>
                <a:ea typeface="Poppins"/>
                <a:cs typeface="Poppins"/>
              </a:rPr>
              <a:t>Volume · biomass · methanol · product</a:t>
            </a:r>
          </a:p>
        </p:txBody>
      </p:sp>
      <p:sp>
        <p:nvSpPr>
          <p:cNvPr id="6" name="Rectangle 5">
            <a:extLst>
              <a:ext uri="{FF2B5EF4-FFF2-40B4-BE49-F238E27FC236}">
                <a16:creationId xmlns:a16="http://schemas.microsoft.com/office/drawing/2014/main" id="{55A21D6E-3A17-4337-8481-1606767364C8}"/>
              </a:ext>
            </a:extLst>
          </p:cNvPr>
          <p:cNvSpPr>
            <a:spLocks noGrp="1"/>
          </p:cNvSpPr>
          <p:nvPr/>
        </p:nvSpPr>
        <p:spPr>
          <a:xfrm>
            <a:off x="1047750" y="3810000"/>
            <a:ext cx="5048250" cy="1809750"/>
          </a:xfrm>
          <a:prstGeom prst="rect">
            <a:avLst/>
          </a:prstGeom>
          <a:noFill/>
          <a:ln w="0">
            <a:noFill/>
            <a:prstDash val="solid"/>
          </a:ln>
        </p:spPr>
        <p:txBody>
          <a:bodyPr/>
          <a:lstStyle/>
          <a:p>
            <a:pPr>
              <a:buNone/>
              <a:defRPr sz="2250" b="1" i="0">
                <a:solidFill>
                  <a:srgbClr val="111111"/>
                </a:solidFill>
                <a:latin typeface="Poppins"/>
                <a:ea typeface="Poppins"/>
                <a:cs typeface="Poppins"/>
              </a:defRPr>
            </a:pPr>
            <a:r>
              <a:rPr sz="2250" b="1" i="0">
                <a:solidFill>
                  <a:srgbClr val="111111"/>
                </a:solidFill>
                <a:latin typeface="Poppins"/>
                <a:ea typeface="Poppins"/>
                <a:cs typeface="Poppins"/>
              </a:rPr>
              <a:t>dV/dt = F / ρₘₑₜₕₐₙₒₗ</a:t>
            </a:r>
          </a:p>
          <a:p>
            <a:pPr>
              <a:buNone/>
              <a:defRPr sz="2250" b="1" i="0">
                <a:solidFill>
                  <a:srgbClr val="111111"/>
                </a:solidFill>
                <a:latin typeface="Poppins"/>
                <a:ea typeface="Poppins"/>
                <a:cs typeface="Poppins"/>
              </a:defRPr>
            </a:pPr>
            <a:r>
              <a:rPr sz="2250" b="1" i="0">
                <a:solidFill>
                  <a:srgbClr val="111111"/>
                </a:solidFill>
                <a:latin typeface="Poppins"/>
                <a:ea typeface="Poppins"/>
                <a:cs typeface="Poppins"/>
              </a:rPr>
              <a:t>d(XV)/dt = μXV</a:t>
            </a:r>
          </a:p>
          <a:p>
            <a:pPr>
              <a:buNone/>
              <a:defRPr sz="2250" b="1" i="0">
                <a:solidFill>
                  <a:srgbClr val="111111"/>
                </a:solidFill>
                <a:latin typeface="Poppins"/>
                <a:ea typeface="Poppins"/>
                <a:cs typeface="Poppins"/>
              </a:defRPr>
            </a:pPr>
            <a:r>
              <a:rPr sz="2250" b="1" i="0">
                <a:solidFill>
                  <a:srgbClr val="111111"/>
                </a:solidFill>
                <a:latin typeface="Poppins"/>
                <a:ea typeface="Poppins"/>
                <a:cs typeface="Poppins"/>
              </a:rPr>
              <a:t>d(SV)/dt = F − qₛXV</a:t>
            </a:r>
          </a:p>
          <a:p>
            <a:pPr>
              <a:buNone/>
              <a:defRPr sz="2250" b="1" i="0">
                <a:solidFill>
                  <a:srgbClr val="111111"/>
                </a:solidFill>
                <a:latin typeface="Poppins"/>
                <a:ea typeface="Poppins"/>
                <a:cs typeface="Poppins"/>
              </a:defRPr>
            </a:pPr>
            <a:r>
              <a:rPr sz="2250" b="1" i="0">
                <a:solidFill>
                  <a:srgbClr val="111111"/>
                </a:solidFill>
                <a:latin typeface="Poppins"/>
                <a:ea typeface="Poppins"/>
                <a:cs typeface="Poppins"/>
              </a:rPr>
              <a:t>d(PV)/dt = qₚXV</a:t>
            </a:r>
          </a:p>
        </p:txBody>
      </p:sp>
      <p:sp>
        <p:nvSpPr>
          <p:cNvPr id="7" name="Rectangle 6">
            <a:extLst>
              <a:ext uri="{FF2B5EF4-FFF2-40B4-BE49-F238E27FC236}">
                <a16:creationId xmlns:a16="http://schemas.microsoft.com/office/drawing/2014/main" id="{2FACDA93-CA31-4230-B97D-EEFE07653209}"/>
              </a:ext>
            </a:extLst>
          </p:cNvPr>
          <p:cNvSpPr>
            <a:spLocks noGrp="1"/>
          </p:cNvSpPr>
          <p:nvPr/>
        </p:nvSpPr>
        <p:spPr>
          <a:xfrm>
            <a:off x="7000875" y="2333625"/>
            <a:ext cx="2000250" cy="285750"/>
          </a:xfrm>
          <a:prstGeom prst="rect">
            <a:avLst/>
          </a:prstGeom>
          <a:noFill/>
          <a:ln w="0">
            <a:noFill/>
            <a:prstDash val="solid"/>
          </a:ln>
        </p:spPr>
        <p:txBody>
          <a:bodyPr/>
          <a:lstStyle/>
          <a:p>
            <a:pPr>
              <a:buNone/>
              <a:defRPr sz="1875" b="1" i="0">
                <a:solidFill>
                  <a:srgbClr val="FF6B00"/>
                </a:solidFill>
                <a:latin typeface="Poppins"/>
                <a:ea typeface="Poppins"/>
                <a:cs typeface="Poppins"/>
              </a:defRPr>
            </a:pPr>
            <a:r>
              <a:rPr sz="1875" b="1" i="0">
                <a:solidFill>
                  <a:srgbClr val="FF6B00"/>
                </a:solidFill>
                <a:latin typeface="Poppins"/>
                <a:ea typeface="Poppins"/>
                <a:cs typeface="Poppins"/>
              </a:rPr>
              <a:t>Volume</a:t>
            </a:r>
          </a:p>
        </p:txBody>
      </p:sp>
      <p:sp>
        <p:nvSpPr>
          <p:cNvPr id="8" name="Rectangle 7">
            <a:extLst>
              <a:ext uri="{FF2B5EF4-FFF2-40B4-BE49-F238E27FC236}">
                <a16:creationId xmlns:a16="http://schemas.microsoft.com/office/drawing/2014/main" id="{B29B082C-B582-49AC-9AE1-13F9B049001A}"/>
              </a:ext>
            </a:extLst>
          </p:cNvPr>
          <p:cNvSpPr>
            <a:spLocks noGrp="1"/>
          </p:cNvSpPr>
          <p:nvPr/>
        </p:nvSpPr>
        <p:spPr>
          <a:xfrm>
            <a:off x="7000875" y="2667000"/>
            <a:ext cx="3810000" cy="285750"/>
          </a:xfrm>
          <a:prstGeom prst="rect">
            <a:avLst/>
          </a:prstGeom>
          <a:noFill/>
          <a:ln w="0">
            <a:noFill/>
            <a:prstDash val="solid"/>
          </a:ln>
        </p:spPr>
        <p:txBody>
          <a:bodyPr/>
          <a:lstStyle/>
          <a:p>
            <a:pPr>
              <a:buNone/>
              <a:defRPr sz="1575" b="0" i="0">
                <a:solidFill>
                  <a:srgbClr val="111111"/>
                </a:solidFill>
                <a:latin typeface="Poppins"/>
                <a:ea typeface="Poppins"/>
                <a:cs typeface="Poppins"/>
              </a:defRPr>
            </a:pPr>
            <a:r>
              <a:rPr sz="1575" b="0" i="0">
                <a:solidFill>
                  <a:srgbClr val="111111"/>
                </a:solidFill>
                <a:latin typeface="Poppins"/>
                <a:ea typeface="Poppins"/>
                <a:cs typeface="Poppins"/>
              </a:rPr>
              <a:t>Feed increases the broth volume</a:t>
            </a:r>
          </a:p>
        </p:txBody>
      </p:sp>
      <p:sp>
        <p:nvSpPr>
          <p:cNvPr id="9" name="Rectangle 8">
            <a:extLst>
              <a:ext uri="{FF2B5EF4-FFF2-40B4-BE49-F238E27FC236}">
                <a16:creationId xmlns:a16="http://schemas.microsoft.com/office/drawing/2014/main" id="{47210794-7207-4E92-B31D-9062FC45E5FA}"/>
              </a:ext>
            </a:extLst>
          </p:cNvPr>
          <p:cNvSpPr>
            <a:spLocks noGrp="1"/>
          </p:cNvSpPr>
          <p:nvPr/>
        </p:nvSpPr>
        <p:spPr>
          <a:xfrm>
            <a:off x="7000875" y="3381375"/>
            <a:ext cx="2000250" cy="285750"/>
          </a:xfrm>
          <a:prstGeom prst="rect">
            <a:avLst/>
          </a:prstGeom>
          <a:noFill/>
          <a:ln w="0">
            <a:noFill/>
            <a:prstDash val="solid"/>
          </a:ln>
        </p:spPr>
        <p:txBody>
          <a:bodyPr/>
          <a:lstStyle/>
          <a:p>
            <a:pPr>
              <a:buNone/>
              <a:defRPr sz="1875" b="1" i="0">
                <a:solidFill>
                  <a:srgbClr val="FF6B00"/>
                </a:solidFill>
                <a:latin typeface="Poppins"/>
                <a:ea typeface="Poppins"/>
                <a:cs typeface="Poppins"/>
              </a:defRPr>
            </a:pPr>
            <a:r>
              <a:rPr sz="1875" b="1" i="0">
                <a:solidFill>
                  <a:srgbClr val="FF6B00"/>
                </a:solidFill>
                <a:latin typeface="Poppins"/>
                <a:ea typeface="Poppins"/>
                <a:cs typeface="Poppins"/>
              </a:rPr>
              <a:t>Biomass</a:t>
            </a:r>
          </a:p>
        </p:txBody>
      </p:sp>
      <p:sp>
        <p:nvSpPr>
          <p:cNvPr id="10" name="Rectangle 9">
            <a:extLst>
              <a:ext uri="{FF2B5EF4-FFF2-40B4-BE49-F238E27FC236}">
                <a16:creationId xmlns:a16="http://schemas.microsoft.com/office/drawing/2014/main" id="{4A130A38-C50A-498D-99FA-34401E91F0CF}"/>
              </a:ext>
            </a:extLst>
          </p:cNvPr>
          <p:cNvSpPr>
            <a:spLocks noGrp="1"/>
          </p:cNvSpPr>
          <p:nvPr/>
        </p:nvSpPr>
        <p:spPr>
          <a:xfrm>
            <a:off x="7000875" y="3714750"/>
            <a:ext cx="3810000" cy="285750"/>
          </a:xfrm>
          <a:prstGeom prst="rect">
            <a:avLst/>
          </a:prstGeom>
          <a:noFill/>
          <a:ln w="0">
            <a:noFill/>
            <a:prstDash val="solid"/>
          </a:ln>
        </p:spPr>
        <p:txBody>
          <a:bodyPr/>
          <a:lstStyle/>
          <a:p>
            <a:pPr>
              <a:buNone/>
              <a:defRPr sz="1575" b="0" i="0">
                <a:solidFill>
                  <a:srgbClr val="111111"/>
                </a:solidFill>
                <a:latin typeface="Poppins"/>
                <a:ea typeface="Poppins"/>
                <a:cs typeface="Poppins"/>
              </a:defRPr>
            </a:pPr>
            <a:r>
              <a:rPr sz="1575" b="0" i="0">
                <a:solidFill>
                  <a:srgbClr val="111111"/>
                </a:solidFill>
                <a:latin typeface="Poppins"/>
                <a:ea typeface="Poppins"/>
                <a:cs typeface="Poppins"/>
              </a:rPr>
              <a:t>μ increases the total cell mass</a:t>
            </a:r>
          </a:p>
        </p:txBody>
      </p:sp>
      <p:sp>
        <p:nvSpPr>
          <p:cNvPr id="11" name="Rectangle 10">
            <a:extLst>
              <a:ext uri="{FF2B5EF4-FFF2-40B4-BE49-F238E27FC236}">
                <a16:creationId xmlns:a16="http://schemas.microsoft.com/office/drawing/2014/main" id="{580EDF19-E07D-4BA7-87F0-5DB0B2EF2C17}"/>
              </a:ext>
            </a:extLst>
          </p:cNvPr>
          <p:cNvSpPr>
            <a:spLocks noGrp="1"/>
          </p:cNvSpPr>
          <p:nvPr/>
        </p:nvSpPr>
        <p:spPr>
          <a:xfrm>
            <a:off x="7000875" y="4429125"/>
            <a:ext cx="2000250" cy="285750"/>
          </a:xfrm>
          <a:prstGeom prst="rect">
            <a:avLst/>
          </a:prstGeom>
          <a:noFill/>
          <a:ln w="0">
            <a:noFill/>
            <a:prstDash val="solid"/>
          </a:ln>
        </p:spPr>
        <p:txBody>
          <a:bodyPr/>
          <a:lstStyle/>
          <a:p>
            <a:pPr>
              <a:buNone/>
              <a:defRPr sz="1875" b="1" i="0">
                <a:solidFill>
                  <a:srgbClr val="FF6B00"/>
                </a:solidFill>
                <a:latin typeface="Poppins"/>
                <a:ea typeface="Poppins"/>
                <a:cs typeface="Poppins"/>
              </a:defRPr>
            </a:pPr>
            <a:r>
              <a:rPr sz="1875" b="1" i="0">
                <a:solidFill>
                  <a:srgbClr val="FF6B00"/>
                </a:solidFill>
                <a:latin typeface="Poppins"/>
                <a:ea typeface="Poppins"/>
                <a:cs typeface="Poppins"/>
              </a:rPr>
              <a:t>Methanol</a:t>
            </a:r>
          </a:p>
        </p:txBody>
      </p:sp>
      <p:sp>
        <p:nvSpPr>
          <p:cNvPr id="12" name="Rectangle 11">
            <a:extLst>
              <a:ext uri="{FF2B5EF4-FFF2-40B4-BE49-F238E27FC236}">
                <a16:creationId xmlns:a16="http://schemas.microsoft.com/office/drawing/2014/main" id="{FA80E157-6A32-4287-A3B4-83D176350E4B}"/>
              </a:ext>
            </a:extLst>
          </p:cNvPr>
          <p:cNvSpPr>
            <a:spLocks noGrp="1"/>
          </p:cNvSpPr>
          <p:nvPr/>
        </p:nvSpPr>
        <p:spPr>
          <a:xfrm>
            <a:off x="7000875" y="4762500"/>
            <a:ext cx="3810000" cy="285750"/>
          </a:xfrm>
          <a:prstGeom prst="rect">
            <a:avLst/>
          </a:prstGeom>
          <a:noFill/>
          <a:ln w="0">
            <a:noFill/>
            <a:prstDash val="solid"/>
          </a:ln>
        </p:spPr>
        <p:txBody>
          <a:bodyPr/>
          <a:lstStyle/>
          <a:p>
            <a:pPr>
              <a:buNone/>
              <a:defRPr sz="1575" b="0" i="0">
                <a:solidFill>
                  <a:srgbClr val="111111"/>
                </a:solidFill>
                <a:latin typeface="Poppins"/>
                <a:ea typeface="Poppins"/>
                <a:cs typeface="Poppins"/>
              </a:defRPr>
            </a:pPr>
            <a:r>
              <a:rPr sz="1575" b="0" i="0">
                <a:solidFill>
                  <a:srgbClr val="111111"/>
                </a:solidFill>
                <a:latin typeface="Poppins"/>
                <a:ea typeface="Poppins"/>
                <a:cs typeface="Poppins"/>
              </a:rPr>
              <a:t>Feed minus cellular uptake</a:t>
            </a:r>
          </a:p>
        </p:txBody>
      </p:sp>
      <p:sp>
        <p:nvSpPr>
          <p:cNvPr id="13" name="Rectangle 12">
            <a:extLst>
              <a:ext uri="{FF2B5EF4-FFF2-40B4-BE49-F238E27FC236}">
                <a16:creationId xmlns:a16="http://schemas.microsoft.com/office/drawing/2014/main" id="{38A5AC72-BCBB-409F-8E39-BCEF15E88731}"/>
              </a:ext>
            </a:extLst>
          </p:cNvPr>
          <p:cNvSpPr>
            <a:spLocks noGrp="1"/>
          </p:cNvSpPr>
          <p:nvPr/>
        </p:nvSpPr>
        <p:spPr>
          <a:xfrm>
            <a:off x="7000875" y="5476875"/>
            <a:ext cx="2000250" cy="285750"/>
          </a:xfrm>
          <a:prstGeom prst="rect">
            <a:avLst/>
          </a:prstGeom>
          <a:noFill/>
          <a:ln w="0">
            <a:noFill/>
            <a:prstDash val="solid"/>
          </a:ln>
        </p:spPr>
        <p:txBody>
          <a:bodyPr/>
          <a:lstStyle/>
          <a:p>
            <a:pPr>
              <a:buNone/>
              <a:defRPr sz="1875" b="1" i="0">
                <a:solidFill>
                  <a:srgbClr val="FF6B00"/>
                </a:solidFill>
                <a:latin typeface="Poppins"/>
                <a:ea typeface="Poppins"/>
                <a:cs typeface="Poppins"/>
              </a:defRPr>
            </a:pPr>
            <a:r>
              <a:rPr sz="1875" b="1" i="0">
                <a:solidFill>
                  <a:srgbClr val="FF6B00"/>
                </a:solidFill>
                <a:latin typeface="Poppins"/>
                <a:ea typeface="Poppins"/>
                <a:cs typeface="Poppins"/>
              </a:rPr>
              <a:t>Product</a:t>
            </a:r>
          </a:p>
        </p:txBody>
      </p:sp>
      <p:sp>
        <p:nvSpPr>
          <p:cNvPr id="14" name="Rectangle 13">
            <a:extLst>
              <a:ext uri="{FF2B5EF4-FFF2-40B4-BE49-F238E27FC236}">
                <a16:creationId xmlns:a16="http://schemas.microsoft.com/office/drawing/2014/main" id="{C2D18EA6-B457-4C8D-83EB-E99190A4CCC4}"/>
              </a:ext>
            </a:extLst>
          </p:cNvPr>
          <p:cNvSpPr>
            <a:spLocks noGrp="1"/>
          </p:cNvSpPr>
          <p:nvPr/>
        </p:nvSpPr>
        <p:spPr>
          <a:xfrm>
            <a:off x="7000875" y="5810250"/>
            <a:ext cx="3810000" cy="285750"/>
          </a:xfrm>
          <a:prstGeom prst="rect">
            <a:avLst/>
          </a:prstGeom>
          <a:noFill/>
          <a:ln w="0">
            <a:noFill/>
            <a:prstDash val="solid"/>
          </a:ln>
        </p:spPr>
        <p:txBody>
          <a:bodyPr/>
          <a:lstStyle/>
          <a:p>
            <a:pPr>
              <a:buNone/>
              <a:defRPr sz="1575" b="0" i="0">
                <a:solidFill>
                  <a:srgbClr val="111111"/>
                </a:solidFill>
                <a:latin typeface="Poppins"/>
                <a:ea typeface="Poppins"/>
                <a:cs typeface="Poppins"/>
              </a:defRPr>
            </a:pPr>
            <a:r>
              <a:rPr sz="1575" b="0" i="0">
                <a:solidFill>
                  <a:srgbClr val="111111"/>
                </a:solidFill>
                <a:latin typeface="Poppins"/>
                <a:ea typeface="Poppins"/>
                <a:cs typeface="Poppins"/>
              </a:rPr>
              <a:t>qₚ accumulates enzyme activity</a:t>
            </a:r>
          </a:p>
        </p:txBody>
      </p:sp>
      <p:sp>
        <p:nvSpPr>
          <p:cNvPr id="15" name="Straight Connector 14">
            <a:extLst>
              <a:ext uri="{FF2B5EF4-FFF2-40B4-BE49-F238E27FC236}">
                <a16:creationId xmlns:a16="http://schemas.microsoft.com/office/drawing/2014/main" id="{75ABC44E-0A72-41B2-8F44-859C572BAC24}"/>
              </a:ext>
            </a:extLst>
          </p:cNvPr>
          <p:cNvSpPr>
            <a:spLocks noGrp="1"/>
          </p:cNvSpPr>
          <p:nvPr/>
        </p:nvSpPr>
        <p:spPr>
          <a:xfrm>
            <a:off x="1047750" y="6477000"/>
            <a:ext cx="10382250" cy="0"/>
          </a:xfrm>
          <a:prstGeom prst="line">
            <a:avLst/>
          </a:prstGeom>
          <a:noFill/>
          <a:ln w="9525">
            <a:solidFill>
              <a:srgbClr val="111111"/>
            </a:solidFill>
            <a:prstDash val="solid"/>
          </a:ln>
        </p:spPr>
      </p:sp>
      <p:sp>
        <p:nvSpPr>
          <p:cNvPr id="16" name="Rectangle 15">
            <a:extLst>
              <a:ext uri="{FF2B5EF4-FFF2-40B4-BE49-F238E27FC236}">
                <a16:creationId xmlns:a16="http://schemas.microsoft.com/office/drawing/2014/main" id="{B93E0837-9D66-479E-AE02-3791D66D0BC9}"/>
              </a:ext>
            </a:extLst>
          </p:cNvPr>
          <p:cNvSpPr>
            <a:spLocks noGrp="1"/>
          </p:cNvSpPr>
          <p:nvPr/>
        </p:nvSpPr>
        <p:spPr>
          <a:xfrm>
            <a:off x="1047750" y="6572250"/>
            <a:ext cx="104775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CL 420</a:t>
            </a:r>
          </a:p>
        </p:txBody>
      </p:sp>
      <p:sp>
        <p:nvSpPr>
          <p:cNvPr id="17" name="Rectangle 16">
            <a:extLst>
              <a:ext uri="{FF2B5EF4-FFF2-40B4-BE49-F238E27FC236}">
                <a16:creationId xmlns:a16="http://schemas.microsoft.com/office/drawing/2014/main" id="{B676F646-DD9C-4074-9676-7C5B16159973}"/>
              </a:ext>
            </a:extLst>
          </p:cNvPr>
          <p:cNvSpPr>
            <a:spLocks noGrp="1"/>
          </p:cNvSpPr>
          <p:nvPr/>
        </p:nvSpPr>
        <p:spPr>
          <a:xfrm>
            <a:off x="10858500" y="6572250"/>
            <a:ext cx="30480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04</a:t>
            </a:r>
          </a:p>
        </p:txBody>
      </p:sp>
    </p:spTree>
    <p:extLst>
      <p:ext uri="{BB962C8B-B14F-4D97-AF65-F5344CB8AC3E}">
        <p14:creationId xmlns:p14="http://schemas.microsoft.com/office/powerpoint/2010/main" val="1974932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1554672-4EFB-47CB-BE69-A6444B008984}"/>
              </a:ext>
            </a:extLst>
          </p:cNvPr>
          <p:cNvSpPr>
            <a:spLocks noGrp="1"/>
          </p:cNvSpPr>
          <p:nvPr/>
        </p:nvSpPr>
        <p:spPr>
          <a:xfrm>
            <a:off x="1047750" y="323850"/>
            <a:ext cx="7239000" cy="171450"/>
          </a:xfrm>
          <a:prstGeom prst="rect">
            <a:avLst/>
          </a:prstGeom>
          <a:noFill/>
          <a:ln w="0">
            <a:noFill/>
            <a:prstDash val="solid"/>
          </a:ln>
        </p:spPr>
        <p:txBody>
          <a:bodyPr/>
          <a:lstStyle/>
          <a:p>
            <a:pPr>
              <a:buNone/>
              <a:defRPr sz="900" b="1" i="0">
                <a:solidFill>
                  <a:srgbClr val="9B9B9B"/>
                </a:solidFill>
                <a:latin typeface="Poppins"/>
                <a:ea typeface="Poppins"/>
                <a:cs typeface="Poppins"/>
              </a:defRPr>
            </a:pPr>
            <a:r>
              <a:rPr sz="900" b="1" i="0">
                <a:solidFill>
                  <a:srgbClr val="9B9B9B"/>
                </a:solidFill>
                <a:latin typeface="Poppins"/>
                <a:ea typeface="Poppins"/>
                <a:cs typeface="Poppins"/>
              </a:rPr>
              <a:t>RESULTS</a:t>
            </a:r>
          </a:p>
        </p:txBody>
      </p:sp>
      <p:sp>
        <p:nvSpPr>
          <p:cNvPr id="2" name="Rectangle 1">
            <a:extLst>
              <a:ext uri="{FF2B5EF4-FFF2-40B4-BE49-F238E27FC236}">
                <a16:creationId xmlns:a16="http://schemas.microsoft.com/office/drawing/2014/main" id="{302A7F6B-D990-46D3-AE38-2D7FF42FD052}"/>
              </a:ext>
            </a:extLst>
          </p:cNvPr>
          <p:cNvSpPr>
            <a:spLocks noGrp="1"/>
          </p:cNvSpPr>
          <p:nvPr/>
        </p:nvSpPr>
        <p:spPr>
          <a:xfrm>
            <a:off x="1047750" y="685800"/>
            <a:ext cx="10001250" cy="809625"/>
          </a:xfrm>
          <a:prstGeom prst="rect">
            <a:avLst/>
          </a:prstGeom>
          <a:noFill/>
          <a:ln w="0">
            <a:noFill/>
            <a:prstDash val="solid"/>
          </a:ln>
        </p:spPr>
        <p:txBody>
          <a:bodyPr/>
          <a:lstStyle/>
          <a:p>
            <a:pPr>
              <a:buNone/>
              <a:defRPr sz="3600" b="1" i="0">
                <a:solidFill>
                  <a:srgbClr val="111111"/>
                </a:solidFill>
                <a:latin typeface="Poppins"/>
                <a:ea typeface="Poppins"/>
                <a:cs typeface="Poppins"/>
              </a:defRPr>
            </a:pPr>
            <a:r>
              <a:rPr sz="3600" b="1" i="0">
                <a:solidFill>
                  <a:srgbClr val="111111"/>
                </a:solidFill>
                <a:latin typeface="Poppins"/>
                <a:ea typeface="Poppins"/>
                <a:cs typeface="Poppins"/>
              </a:rPr>
              <a:t>CS gives the strongest predicted performance</a:t>
            </a:r>
          </a:p>
        </p:txBody>
      </p:sp>
      <p:sp>
        <p:nvSpPr>
          <p:cNvPr id="3" name="Straight Connector 2">
            <a:extLst>
              <a:ext uri="{FF2B5EF4-FFF2-40B4-BE49-F238E27FC236}">
                <a16:creationId xmlns:a16="http://schemas.microsoft.com/office/drawing/2014/main" id="{8A053702-8228-45FB-9503-D7766AF42D91}"/>
              </a:ext>
            </a:extLst>
          </p:cNvPr>
          <p:cNvSpPr>
            <a:spLocks noGrp="1"/>
          </p:cNvSpPr>
          <p:nvPr/>
        </p:nvSpPr>
        <p:spPr>
          <a:xfrm flipV="1">
            <a:off x="1136241" y="1866944"/>
            <a:ext cx="7653798" cy="35290"/>
          </a:xfrm>
          <a:prstGeom prst="line">
            <a:avLst/>
          </a:prstGeom>
          <a:noFill/>
          <a:ln w="76200">
            <a:solidFill>
              <a:srgbClr val="FF6B00"/>
            </a:solidFill>
            <a:prstDash val="solid"/>
          </a:ln>
        </p:spPr>
      </p:sp>
      <p:sp>
        <p:nvSpPr>
          <p:cNvPr id="4" name="Rectangle 3">
            <a:extLst>
              <a:ext uri="{FF2B5EF4-FFF2-40B4-BE49-F238E27FC236}">
                <a16:creationId xmlns:a16="http://schemas.microsoft.com/office/drawing/2014/main" id="{C4F0B032-FC7D-4997-8412-E86B4DDA5E8B}"/>
              </a:ext>
            </a:extLst>
          </p:cNvPr>
          <p:cNvSpPr>
            <a:spLocks noGrp="1"/>
          </p:cNvSpPr>
          <p:nvPr/>
        </p:nvSpPr>
        <p:spPr>
          <a:xfrm>
            <a:off x="1047750" y="2025752"/>
            <a:ext cx="6667500" cy="266700"/>
          </a:xfrm>
          <a:prstGeom prst="rect">
            <a:avLst/>
          </a:prstGeom>
          <a:noFill/>
          <a:ln w="0">
            <a:noFill/>
            <a:prstDash val="solid"/>
          </a:ln>
        </p:spPr>
        <p:txBody>
          <a:bodyPr/>
          <a:lstStyle/>
          <a:p>
            <a:pPr>
              <a:buNone/>
              <a:defRPr sz="1425" b="0" i="0">
                <a:solidFill>
                  <a:srgbClr val="9B9B9B"/>
                </a:solidFill>
                <a:latin typeface="Poppins"/>
                <a:ea typeface="Poppins"/>
                <a:cs typeface="Poppins"/>
              </a:defRPr>
            </a:pPr>
            <a:r>
              <a:rPr sz="1425" b="0" i="0">
                <a:solidFill>
                  <a:srgbClr val="9B9B9B"/>
                </a:solidFill>
                <a:latin typeface="Poppins"/>
                <a:ea typeface="Poppins"/>
                <a:cs typeface="Poppins"/>
              </a:rPr>
              <a:t>Four feeding strategies are compared under both kinetic formulations.</a:t>
            </a:r>
          </a:p>
        </p:txBody>
      </p:sp>
      <p:sp>
        <p:nvSpPr>
          <p:cNvPr id="5" name="Rectangle 4">
            <a:extLst>
              <a:ext uri="{FF2B5EF4-FFF2-40B4-BE49-F238E27FC236}">
                <a16:creationId xmlns:a16="http://schemas.microsoft.com/office/drawing/2014/main" id="{A3600064-2A5F-4B11-9C7D-70DE312189B2}"/>
              </a:ext>
            </a:extLst>
          </p:cNvPr>
          <p:cNvSpPr>
            <a:spLocks noGrp="1"/>
          </p:cNvSpPr>
          <p:nvPr/>
        </p:nvSpPr>
        <p:spPr>
          <a:xfrm>
            <a:off x="1047750" y="2266950"/>
            <a:ext cx="4857750" cy="1047750"/>
          </a:xfrm>
          <a:prstGeom prst="rect">
            <a:avLst/>
          </a:prstGeom>
          <a:noFill/>
          <a:ln w="0">
            <a:noFill/>
            <a:prstDash val="solid"/>
          </a:ln>
        </p:spPr>
        <p:txBody>
          <a:bodyPr/>
          <a:lstStyle/>
          <a:p>
            <a:pPr>
              <a:buNone/>
              <a:defRPr sz="6900" b="1" i="0">
                <a:solidFill>
                  <a:srgbClr val="111111"/>
                </a:solidFill>
                <a:latin typeface="Poppins"/>
                <a:ea typeface="Poppins"/>
                <a:cs typeface="Poppins"/>
              </a:defRPr>
            </a:pPr>
            <a:r>
              <a:rPr sz="6900" b="1" i="0">
                <a:solidFill>
                  <a:srgbClr val="111111"/>
                </a:solidFill>
                <a:latin typeface="Poppins"/>
                <a:ea typeface="Poppins"/>
                <a:cs typeface="Poppins"/>
              </a:rPr>
              <a:t>255.01</a:t>
            </a:r>
          </a:p>
        </p:txBody>
      </p:sp>
      <p:sp>
        <p:nvSpPr>
          <p:cNvPr id="6" name="Rectangle 5">
            <a:extLst>
              <a:ext uri="{FF2B5EF4-FFF2-40B4-BE49-F238E27FC236}">
                <a16:creationId xmlns:a16="http://schemas.microsoft.com/office/drawing/2014/main" id="{6E92CCE0-6316-478A-9083-668BB8A6696C}"/>
              </a:ext>
            </a:extLst>
          </p:cNvPr>
          <p:cNvSpPr>
            <a:spLocks noGrp="1"/>
          </p:cNvSpPr>
          <p:nvPr/>
        </p:nvSpPr>
        <p:spPr>
          <a:xfrm>
            <a:off x="1047750" y="3371850"/>
            <a:ext cx="4762500" cy="304800"/>
          </a:xfrm>
          <a:prstGeom prst="rect">
            <a:avLst/>
          </a:prstGeom>
          <a:noFill/>
          <a:ln w="0">
            <a:noFill/>
            <a:prstDash val="solid"/>
          </a:ln>
        </p:spPr>
        <p:txBody>
          <a:bodyPr/>
          <a:lstStyle/>
          <a:p>
            <a:pPr>
              <a:buNone/>
              <a:defRPr sz="2025" b="0" i="0">
                <a:solidFill>
                  <a:srgbClr val="111111"/>
                </a:solidFill>
                <a:latin typeface="Poppins"/>
                <a:ea typeface="Poppins"/>
                <a:cs typeface="Poppins"/>
              </a:defRPr>
            </a:pPr>
            <a:r>
              <a:rPr sz="2025" b="0" i="0">
                <a:solidFill>
                  <a:srgbClr val="111111"/>
                </a:solidFill>
                <a:latin typeface="Poppins"/>
                <a:ea typeface="Poppins"/>
                <a:cs typeface="Poppins"/>
              </a:rPr>
              <a:t>U/mL final product activity</a:t>
            </a:r>
          </a:p>
        </p:txBody>
      </p:sp>
      <p:sp>
        <p:nvSpPr>
          <p:cNvPr id="7" name="Rectangle 6">
            <a:extLst>
              <a:ext uri="{FF2B5EF4-FFF2-40B4-BE49-F238E27FC236}">
                <a16:creationId xmlns:a16="http://schemas.microsoft.com/office/drawing/2014/main" id="{788BD54A-AC33-4574-B00D-B8F46E63F913}"/>
              </a:ext>
            </a:extLst>
          </p:cNvPr>
          <p:cNvSpPr>
            <a:spLocks noGrp="1"/>
          </p:cNvSpPr>
          <p:nvPr/>
        </p:nvSpPr>
        <p:spPr>
          <a:xfrm>
            <a:off x="1047750" y="4095750"/>
            <a:ext cx="4857750" cy="1000125"/>
          </a:xfrm>
          <a:prstGeom prst="rect">
            <a:avLst/>
          </a:prstGeom>
          <a:noFill/>
          <a:ln w="0">
            <a:noFill/>
            <a:prstDash val="solid"/>
          </a:ln>
        </p:spPr>
        <p:txBody>
          <a:bodyPr/>
          <a:lstStyle/>
          <a:p>
            <a:pPr>
              <a:buNone/>
              <a:defRPr sz="6600" b="1" i="0">
                <a:solidFill>
                  <a:srgbClr val="111111"/>
                </a:solidFill>
                <a:latin typeface="Poppins"/>
                <a:ea typeface="Poppins"/>
                <a:cs typeface="Poppins"/>
              </a:defRPr>
            </a:pPr>
            <a:r>
              <a:rPr sz="6600" b="1" i="0">
                <a:solidFill>
                  <a:srgbClr val="111111"/>
                </a:solidFill>
                <a:latin typeface="Poppins"/>
                <a:ea typeface="Poppins"/>
                <a:cs typeface="Poppins"/>
              </a:rPr>
              <a:t>10,057</a:t>
            </a:r>
          </a:p>
        </p:txBody>
      </p:sp>
      <p:sp>
        <p:nvSpPr>
          <p:cNvPr id="8" name="Rectangle 7">
            <a:extLst>
              <a:ext uri="{FF2B5EF4-FFF2-40B4-BE49-F238E27FC236}">
                <a16:creationId xmlns:a16="http://schemas.microsoft.com/office/drawing/2014/main" id="{46F53EDE-ED65-4447-ACAA-6F83CA61013C}"/>
              </a:ext>
            </a:extLst>
          </p:cNvPr>
          <p:cNvSpPr>
            <a:spLocks noGrp="1"/>
          </p:cNvSpPr>
          <p:nvPr/>
        </p:nvSpPr>
        <p:spPr>
          <a:xfrm>
            <a:off x="1047750" y="5162550"/>
            <a:ext cx="4762500" cy="304800"/>
          </a:xfrm>
          <a:prstGeom prst="rect">
            <a:avLst/>
          </a:prstGeom>
          <a:noFill/>
          <a:ln w="0">
            <a:noFill/>
            <a:prstDash val="solid"/>
          </a:ln>
        </p:spPr>
        <p:txBody>
          <a:bodyPr/>
          <a:lstStyle/>
          <a:p>
            <a:pPr>
              <a:buNone/>
              <a:defRPr sz="2025" b="0" i="0">
                <a:solidFill>
                  <a:srgbClr val="111111"/>
                </a:solidFill>
                <a:latin typeface="Poppins"/>
                <a:ea typeface="Poppins"/>
                <a:cs typeface="Poppins"/>
              </a:defRPr>
            </a:pPr>
            <a:r>
              <a:rPr sz="2025" b="0" i="0">
                <a:solidFill>
                  <a:srgbClr val="111111"/>
                </a:solidFill>
                <a:latin typeface="Poppins"/>
                <a:ea typeface="Poppins"/>
                <a:cs typeface="Poppins"/>
              </a:rPr>
              <a:t>U/L/h volumetric productivity</a:t>
            </a:r>
          </a:p>
        </p:txBody>
      </p:sp>
      <p:pic>
        <p:nvPicPr>
          <p:cNvPr id="33" name="Picture 21"/>
          <p:cNvPicPr>
            <a:picLocks noChangeAspect="1"/>
          </p:cNvPicPr>
          <p:nvPr/>
        </p:nvPicPr>
        <p:blipFill>
          <a:blip r:embed="rId3"/>
          <a:stretch/>
        </p:blipFill>
        <p:spPr>
          <a:xfrm>
            <a:off x="6477000" y="2823062"/>
            <a:ext cx="4857750" cy="1783377"/>
          </a:xfrm>
          <a:prstGeom prst="rect">
            <a:avLst/>
          </a:prstGeom>
        </p:spPr>
      </p:pic>
      <p:sp>
        <p:nvSpPr>
          <p:cNvPr id="10" name="Rectangle 9">
            <a:extLst>
              <a:ext uri="{FF2B5EF4-FFF2-40B4-BE49-F238E27FC236}">
                <a16:creationId xmlns:a16="http://schemas.microsoft.com/office/drawing/2014/main" id="{92A7F269-B16F-44E1-8ABF-2118E82C12F3}"/>
              </a:ext>
            </a:extLst>
          </p:cNvPr>
          <p:cNvSpPr>
            <a:spLocks noGrp="1"/>
          </p:cNvSpPr>
          <p:nvPr/>
        </p:nvSpPr>
        <p:spPr>
          <a:xfrm>
            <a:off x="6715125" y="5810250"/>
            <a:ext cx="4286250" cy="266700"/>
          </a:xfrm>
          <a:prstGeom prst="rect">
            <a:avLst/>
          </a:prstGeom>
          <a:noFill/>
          <a:ln w="0">
            <a:noFill/>
            <a:prstDash val="solid"/>
          </a:ln>
        </p:spPr>
        <p:txBody>
          <a:bodyPr/>
          <a:lstStyle/>
          <a:p>
            <a:pPr>
              <a:buNone/>
              <a:defRPr sz="1350" b="0" i="0">
                <a:solidFill>
                  <a:srgbClr val="111111"/>
                </a:solidFill>
                <a:latin typeface="Poppins"/>
                <a:ea typeface="Poppins"/>
                <a:cs typeface="Poppins"/>
              </a:defRPr>
            </a:pPr>
            <a:r>
              <a:rPr sz="1350" b="0" i="0">
                <a:solidFill>
                  <a:srgbClr val="111111"/>
                </a:solidFill>
                <a:latin typeface="Poppins"/>
                <a:ea typeface="Poppins"/>
                <a:cs typeface="Poppins"/>
              </a:rPr>
              <a:t>Monod CS predicts 266.18 U/mL.</a:t>
            </a:r>
          </a:p>
        </p:txBody>
      </p:sp>
      <p:sp>
        <p:nvSpPr>
          <p:cNvPr id="11" name="Straight Connector 10">
            <a:extLst>
              <a:ext uri="{FF2B5EF4-FFF2-40B4-BE49-F238E27FC236}">
                <a16:creationId xmlns:a16="http://schemas.microsoft.com/office/drawing/2014/main" id="{98A55323-60F2-4631-9571-4BF890F5CB36}"/>
              </a:ext>
            </a:extLst>
          </p:cNvPr>
          <p:cNvSpPr>
            <a:spLocks noGrp="1"/>
          </p:cNvSpPr>
          <p:nvPr/>
        </p:nvSpPr>
        <p:spPr>
          <a:xfrm>
            <a:off x="1047750" y="6477000"/>
            <a:ext cx="10382250" cy="0"/>
          </a:xfrm>
          <a:prstGeom prst="line">
            <a:avLst/>
          </a:prstGeom>
          <a:noFill/>
          <a:ln w="9525">
            <a:solidFill>
              <a:srgbClr val="111111"/>
            </a:solidFill>
            <a:prstDash val="solid"/>
          </a:ln>
        </p:spPr>
      </p:sp>
      <p:sp>
        <p:nvSpPr>
          <p:cNvPr id="12" name="Rectangle 11">
            <a:extLst>
              <a:ext uri="{FF2B5EF4-FFF2-40B4-BE49-F238E27FC236}">
                <a16:creationId xmlns:a16="http://schemas.microsoft.com/office/drawing/2014/main" id="{942524C6-BB04-4287-A4F1-1A2D5FDF50D5}"/>
              </a:ext>
            </a:extLst>
          </p:cNvPr>
          <p:cNvSpPr>
            <a:spLocks noGrp="1"/>
          </p:cNvSpPr>
          <p:nvPr/>
        </p:nvSpPr>
        <p:spPr>
          <a:xfrm>
            <a:off x="1047750" y="6572250"/>
            <a:ext cx="104775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CL 420</a:t>
            </a:r>
          </a:p>
        </p:txBody>
      </p:sp>
      <p:sp>
        <p:nvSpPr>
          <p:cNvPr id="13" name="Rectangle 12">
            <a:extLst>
              <a:ext uri="{FF2B5EF4-FFF2-40B4-BE49-F238E27FC236}">
                <a16:creationId xmlns:a16="http://schemas.microsoft.com/office/drawing/2014/main" id="{6285141B-73CF-45A4-8DC9-3BD416D95D2E}"/>
              </a:ext>
            </a:extLst>
          </p:cNvPr>
          <p:cNvSpPr>
            <a:spLocks noGrp="1"/>
          </p:cNvSpPr>
          <p:nvPr/>
        </p:nvSpPr>
        <p:spPr>
          <a:xfrm>
            <a:off x="10858500" y="6572250"/>
            <a:ext cx="30480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05</a:t>
            </a:r>
          </a:p>
        </p:txBody>
      </p:sp>
      <p:sp>
        <p:nvSpPr>
          <p:cNvPr id="16" name="Rectangle 15">
            <a:extLst>
              <a:ext uri="{FF2B5EF4-FFF2-40B4-BE49-F238E27FC236}">
                <a16:creationId xmlns:a16="http://schemas.microsoft.com/office/drawing/2014/main" id="{80940CDF-8DC2-4400-B6A8-A8E02DAA2E34}"/>
              </a:ext>
            </a:extLst>
          </p:cNvPr>
          <p:cNvSpPr>
            <a:spLocks noGrp="1"/>
          </p:cNvSpPr>
          <p:nvPr/>
        </p:nvSpPr>
        <p:spPr>
          <a:xfrm>
            <a:off x="6477000" y="4695825"/>
            <a:ext cx="2381250" cy="152400"/>
          </a:xfrm>
          <a:prstGeom prst="rect">
            <a:avLst/>
          </a:prstGeom>
          <a:noFill/>
          <a:ln w="0">
            <a:noFill/>
            <a:prstDash val="solid"/>
          </a:ln>
        </p:spPr>
        <p:txBody>
          <a:bodyPr/>
          <a:lstStyle/>
          <a:p>
            <a:pPr>
              <a:defRPr sz="825" b="1">
                <a:solidFill>
                  <a:srgbClr val="9B9B9B"/>
                </a:solidFill>
                <a:latin typeface="Poppins"/>
                <a:ea typeface="Poppins"/>
                <a:cs typeface="Poppins"/>
              </a:defRPr>
            </a:pPr>
            <a:r>
              <a:rPr sz="825" b="1">
                <a:solidFill>
                  <a:srgbClr val="9B9B9B"/>
                </a:solidFill>
                <a:latin typeface="Poppins"/>
                <a:ea typeface="Poppins"/>
                <a:cs typeface="Poppins"/>
              </a:rPr>
              <a:t>FEEDING METHODS</a:t>
            </a:r>
          </a:p>
        </p:txBody>
      </p:sp>
      <p:sp>
        <p:nvSpPr>
          <p:cNvPr id="17" name="Rectangle 16">
            <a:extLst>
              <a:ext uri="{FF2B5EF4-FFF2-40B4-BE49-F238E27FC236}">
                <a16:creationId xmlns:a16="http://schemas.microsoft.com/office/drawing/2014/main" id="{9789A585-8E32-4370-9647-94A79CC5EF00}"/>
              </a:ext>
            </a:extLst>
          </p:cNvPr>
          <p:cNvSpPr>
            <a:spLocks noGrp="1"/>
          </p:cNvSpPr>
          <p:nvPr/>
        </p:nvSpPr>
        <p:spPr>
          <a:xfrm>
            <a:off x="6477000" y="4895850"/>
            <a:ext cx="495300" cy="171450"/>
          </a:xfrm>
          <a:prstGeom prst="rect">
            <a:avLst/>
          </a:prstGeom>
          <a:noFill/>
          <a:ln w="0">
            <a:noFill/>
            <a:prstDash val="solid"/>
          </a:ln>
        </p:spPr>
        <p:txBody>
          <a:bodyPr/>
          <a:lstStyle/>
          <a:p>
            <a:pPr>
              <a:defRPr sz="975" b="1">
                <a:solidFill>
                  <a:srgbClr val="FF6B00"/>
                </a:solidFill>
                <a:latin typeface="Poppins"/>
                <a:ea typeface="Poppins"/>
                <a:cs typeface="Poppins"/>
              </a:defRPr>
            </a:pPr>
            <a:r>
              <a:rPr sz="975" b="1">
                <a:solidFill>
                  <a:srgbClr val="FF6B00"/>
                </a:solidFill>
                <a:latin typeface="Poppins"/>
                <a:ea typeface="Poppins"/>
                <a:cs typeface="Poppins"/>
              </a:rPr>
              <a:t>CF</a:t>
            </a:r>
          </a:p>
        </p:txBody>
      </p:sp>
      <p:sp>
        <p:nvSpPr>
          <p:cNvPr id="18" name="Rectangle 17">
            <a:extLst>
              <a:ext uri="{FF2B5EF4-FFF2-40B4-BE49-F238E27FC236}">
                <a16:creationId xmlns:a16="http://schemas.microsoft.com/office/drawing/2014/main" id="{AE76CC56-6406-49A5-B8AF-EE74E509FFC9}"/>
              </a:ext>
            </a:extLst>
          </p:cNvPr>
          <p:cNvSpPr>
            <a:spLocks noGrp="1"/>
          </p:cNvSpPr>
          <p:nvPr/>
        </p:nvSpPr>
        <p:spPr>
          <a:xfrm>
            <a:off x="7086600" y="4895850"/>
            <a:ext cx="3867150" cy="171450"/>
          </a:xfrm>
          <a:prstGeom prst="rect">
            <a:avLst/>
          </a:prstGeom>
          <a:noFill/>
          <a:ln w="0">
            <a:noFill/>
            <a:prstDash val="solid"/>
          </a:ln>
        </p:spPr>
        <p:txBody>
          <a:bodyPr/>
          <a:lstStyle/>
          <a:p>
            <a:pPr>
              <a:defRPr sz="975" b="0">
                <a:solidFill>
                  <a:srgbClr val="111111"/>
                </a:solidFill>
                <a:latin typeface="Poppins"/>
                <a:ea typeface="Poppins"/>
                <a:cs typeface="Poppins"/>
              </a:defRPr>
            </a:pPr>
            <a:r>
              <a:rPr sz="975" b="0">
                <a:solidFill>
                  <a:srgbClr val="111111"/>
                </a:solidFill>
                <a:latin typeface="Poppins"/>
                <a:ea typeface="Poppins"/>
                <a:cs typeface="Poppins"/>
              </a:rPr>
              <a:t>Constant feed, 14 g/h</a:t>
            </a:r>
          </a:p>
        </p:txBody>
      </p:sp>
      <p:sp>
        <p:nvSpPr>
          <p:cNvPr id="19" name="Rectangle 18">
            <a:extLst>
              <a:ext uri="{FF2B5EF4-FFF2-40B4-BE49-F238E27FC236}">
                <a16:creationId xmlns:a16="http://schemas.microsoft.com/office/drawing/2014/main" id="{8EC5A021-180E-4CB0-B0A8-3EDA173D3C21}"/>
              </a:ext>
            </a:extLst>
          </p:cNvPr>
          <p:cNvSpPr>
            <a:spLocks noGrp="1"/>
          </p:cNvSpPr>
          <p:nvPr/>
        </p:nvSpPr>
        <p:spPr>
          <a:xfrm>
            <a:off x="6477000" y="5095875"/>
            <a:ext cx="495300" cy="171450"/>
          </a:xfrm>
          <a:prstGeom prst="rect">
            <a:avLst/>
          </a:prstGeom>
          <a:noFill/>
          <a:ln w="0">
            <a:noFill/>
            <a:prstDash val="solid"/>
          </a:ln>
        </p:spPr>
        <p:txBody>
          <a:bodyPr/>
          <a:lstStyle/>
          <a:p>
            <a:pPr>
              <a:defRPr sz="975" b="1">
                <a:solidFill>
                  <a:srgbClr val="FF6B00"/>
                </a:solidFill>
                <a:latin typeface="Poppins"/>
                <a:ea typeface="Poppins"/>
                <a:cs typeface="Poppins"/>
              </a:defRPr>
            </a:pPr>
            <a:r>
              <a:rPr sz="975" b="1">
                <a:solidFill>
                  <a:srgbClr val="FF6B00"/>
                </a:solidFill>
                <a:latin typeface="Poppins"/>
                <a:ea typeface="Poppins"/>
                <a:cs typeface="Poppins"/>
              </a:rPr>
              <a:t>CM</a:t>
            </a:r>
          </a:p>
        </p:txBody>
      </p:sp>
      <p:sp>
        <p:nvSpPr>
          <p:cNvPr id="20" name="Rectangle 19">
            <a:extLst>
              <a:ext uri="{FF2B5EF4-FFF2-40B4-BE49-F238E27FC236}">
                <a16:creationId xmlns:a16="http://schemas.microsoft.com/office/drawing/2014/main" id="{D78CFBAA-1A32-4CBD-950E-A77BB9C2241D}"/>
              </a:ext>
            </a:extLst>
          </p:cNvPr>
          <p:cNvSpPr>
            <a:spLocks noGrp="1"/>
          </p:cNvSpPr>
          <p:nvPr/>
        </p:nvSpPr>
        <p:spPr>
          <a:xfrm>
            <a:off x="7086600" y="5095875"/>
            <a:ext cx="3867150" cy="171450"/>
          </a:xfrm>
          <a:prstGeom prst="rect">
            <a:avLst/>
          </a:prstGeom>
          <a:noFill/>
          <a:ln w="0">
            <a:noFill/>
            <a:prstDash val="solid"/>
          </a:ln>
        </p:spPr>
        <p:txBody>
          <a:bodyPr/>
          <a:lstStyle/>
          <a:p>
            <a:pPr>
              <a:defRPr sz="975" b="0">
                <a:solidFill>
                  <a:srgbClr val="111111"/>
                </a:solidFill>
                <a:latin typeface="Poppins"/>
                <a:ea typeface="Poppins"/>
                <a:cs typeface="Poppins"/>
              </a:defRPr>
            </a:pPr>
            <a:r>
              <a:rPr sz="975" b="0">
                <a:solidFill>
                  <a:srgbClr val="111111"/>
                </a:solidFill>
                <a:latin typeface="Poppins"/>
                <a:ea typeface="Poppins"/>
                <a:cs typeface="Poppins"/>
              </a:rPr>
              <a:t>Target growth rate, μ = 0.03 h⁻¹</a:t>
            </a:r>
          </a:p>
        </p:txBody>
      </p:sp>
      <p:sp>
        <p:nvSpPr>
          <p:cNvPr id="21" name="Rectangle 20">
            <a:extLst>
              <a:ext uri="{FF2B5EF4-FFF2-40B4-BE49-F238E27FC236}">
                <a16:creationId xmlns:a16="http://schemas.microsoft.com/office/drawing/2014/main" id="{B2715CDA-D91D-4EAB-BC13-1DAD1DBA3CC3}"/>
              </a:ext>
            </a:extLst>
          </p:cNvPr>
          <p:cNvSpPr>
            <a:spLocks noGrp="1"/>
          </p:cNvSpPr>
          <p:nvPr/>
        </p:nvSpPr>
        <p:spPr>
          <a:xfrm>
            <a:off x="6477000" y="5295900"/>
            <a:ext cx="495300" cy="171450"/>
          </a:xfrm>
          <a:prstGeom prst="rect">
            <a:avLst/>
          </a:prstGeom>
          <a:noFill/>
          <a:ln w="0">
            <a:noFill/>
            <a:prstDash val="solid"/>
          </a:ln>
        </p:spPr>
        <p:txBody>
          <a:bodyPr/>
          <a:lstStyle/>
          <a:p>
            <a:pPr>
              <a:defRPr sz="975" b="1">
                <a:solidFill>
                  <a:srgbClr val="FF6B00"/>
                </a:solidFill>
                <a:latin typeface="Poppins"/>
                <a:ea typeface="Poppins"/>
                <a:cs typeface="Poppins"/>
              </a:defRPr>
            </a:pPr>
            <a:r>
              <a:rPr sz="975" b="1">
                <a:solidFill>
                  <a:srgbClr val="FF6B00"/>
                </a:solidFill>
                <a:latin typeface="Poppins"/>
                <a:ea typeface="Poppins"/>
                <a:cs typeface="Poppins"/>
              </a:rPr>
              <a:t>LM</a:t>
            </a:r>
          </a:p>
        </p:txBody>
      </p:sp>
      <p:sp>
        <p:nvSpPr>
          <p:cNvPr id="22" name="Rectangle 21">
            <a:extLst>
              <a:ext uri="{FF2B5EF4-FFF2-40B4-BE49-F238E27FC236}">
                <a16:creationId xmlns:a16="http://schemas.microsoft.com/office/drawing/2014/main" id="{73A27A91-7441-46D5-A59E-F6C9AE15755C}"/>
              </a:ext>
            </a:extLst>
          </p:cNvPr>
          <p:cNvSpPr>
            <a:spLocks noGrp="1"/>
          </p:cNvSpPr>
          <p:nvPr/>
        </p:nvSpPr>
        <p:spPr>
          <a:xfrm>
            <a:off x="7086600" y="5295900"/>
            <a:ext cx="3867150" cy="171450"/>
          </a:xfrm>
          <a:prstGeom prst="rect">
            <a:avLst/>
          </a:prstGeom>
          <a:noFill/>
          <a:ln w="0">
            <a:noFill/>
            <a:prstDash val="solid"/>
          </a:ln>
        </p:spPr>
        <p:txBody>
          <a:bodyPr/>
          <a:lstStyle/>
          <a:p>
            <a:pPr>
              <a:defRPr sz="975" b="0">
                <a:solidFill>
                  <a:srgbClr val="111111"/>
                </a:solidFill>
                <a:latin typeface="Poppins"/>
                <a:ea typeface="Poppins"/>
                <a:cs typeface="Poppins"/>
              </a:defRPr>
            </a:pPr>
            <a:r>
              <a:rPr sz="975" b="0">
                <a:solidFill>
                  <a:srgbClr val="111111"/>
                </a:solidFill>
                <a:latin typeface="Poppins"/>
                <a:ea typeface="Poppins"/>
                <a:cs typeface="Poppins"/>
              </a:rPr>
              <a:t>Target μ rises from 0.01 to 0.04 h⁻¹</a:t>
            </a:r>
          </a:p>
        </p:txBody>
      </p:sp>
      <p:sp>
        <p:nvSpPr>
          <p:cNvPr id="23" name="Rectangle 22">
            <a:extLst>
              <a:ext uri="{FF2B5EF4-FFF2-40B4-BE49-F238E27FC236}">
                <a16:creationId xmlns:a16="http://schemas.microsoft.com/office/drawing/2014/main" id="{212256AB-5A7D-442B-AEFB-13A74C31E548}"/>
              </a:ext>
            </a:extLst>
          </p:cNvPr>
          <p:cNvSpPr>
            <a:spLocks noGrp="1"/>
          </p:cNvSpPr>
          <p:nvPr/>
        </p:nvSpPr>
        <p:spPr>
          <a:xfrm>
            <a:off x="6477000" y="5495925"/>
            <a:ext cx="495300" cy="171450"/>
          </a:xfrm>
          <a:prstGeom prst="rect">
            <a:avLst/>
          </a:prstGeom>
          <a:noFill/>
          <a:ln w="0">
            <a:noFill/>
            <a:prstDash val="solid"/>
          </a:ln>
        </p:spPr>
        <p:txBody>
          <a:bodyPr/>
          <a:lstStyle/>
          <a:p>
            <a:pPr>
              <a:defRPr sz="975" b="1">
                <a:solidFill>
                  <a:srgbClr val="FF6B00"/>
                </a:solidFill>
                <a:latin typeface="Poppins"/>
                <a:ea typeface="Poppins"/>
                <a:cs typeface="Poppins"/>
              </a:defRPr>
            </a:pPr>
            <a:r>
              <a:rPr sz="975" b="1">
                <a:solidFill>
                  <a:srgbClr val="FF6B00"/>
                </a:solidFill>
                <a:latin typeface="Poppins"/>
                <a:ea typeface="Poppins"/>
                <a:cs typeface="Poppins"/>
              </a:rPr>
              <a:t>CS</a:t>
            </a:r>
          </a:p>
        </p:txBody>
      </p:sp>
      <p:sp>
        <p:nvSpPr>
          <p:cNvPr id="24" name="Rectangle 23">
            <a:extLst>
              <a:ext uri="{FF2B5EF4-FFF2-40B4-BE49-F238E27FC236}">
                <a16:creationId xmlns:a16="http://schemas.microsoft.com/office/drawing/2014/main" id="{32DD2DA6-96DB-4D72-9674-D8FB24830BF0}"/>
              </a:ext>
            </a:extLst>
          </p:cNvPr>
          <p:cNvSpPr>
            <a:spLocks noGrp="1"/>
          </p:cNvSpPr>
          <p:nvPr/>
        </p:nvSpPr>
        <p:spPr>
          <a:xfrm>
            <a:off x="7086600" y="5495925"/>
            <a:ext cx="3867150" cy="171450"/>
          </a:xfrm>
          <a:prstGeom prst="rect">
            <a:avLst/>
          </a:prstGeom>
          <a:noFill/>
          <a:ln w="0">
            <a:noFill/>
            <a:prstDash val="solid"/>
          </a:ln>
        </p:spPr>
        <p:txBody>
          <a:bodyPr/>
          <a:lstStyle/>
          <a:p>
            <a:pPr>
              <a:defRPr sz="975" b="0">
                <a:solidFill>
                  <a:srgbClr val="111111"/>
                </a:solidFill>
                <a:latin typeface="Poppins"/>
                <a:ea typeface="Poppins"/>
                <a:cs typeface="Poppins"/>
              </a:defRPr>
            </a:pPr>
            <a:r>
              <a:rPr sz="975" b="0">
                <a:solidFill>
                  <a:srgbClr val="111111"/>
                </a:solidFill>
                <a:latin typeface="Poppins"/>
                <a:ea typeface="Poppins"/>
                <a:cs typeface="Poppins"/>
              </a:rPr>
              <a:t>Constant methanol, S = 2 g/L</a:t>
            </a:r>
          </a:p>
        </p:txBody>
      </p:sp>
    </p:spTree>
    <p:extLst>
      <p:ext uri="{BB962C8B-B14F-4D97-AF65-F5344CB8AC3E}">
        <p14:creationId xmlns:p14="http://schemas.microsoft.com/office/powerpoint/2010/main" val="56957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4E2490E-CDBE-4D14-ACC2-AF84111C3D3E}"/>
              </a:ext>
            </a:extLst>
          </p:cNvPr>
          <p:cNvSpPr>
            <a:spLocks noGrp="1"/>
          </p:cNvSpPr>
          <p:nvPr/>
        </p:nvSpPr>
        <p:spPr>
          <a:xfrm>
            <a:off x="1047750" y="323850"/>
            <a:ext cx="7239000" cy="171450"/>
          </a:xfrm>
          <a:prstGeom prst="rect">
            <a:avLst/>
          </a:prstGeom>
          <a:noFill/>
          <a:ln w="0">
            <a:noFill/>
            <a:prstDash val="solid"/>
          </a:ln>
        </p:spPr>
        <p:txBody>
          <a:bodyPr/>
          <a:lstStyle/>
          <a:p>
            <a:pPr>
              <a:buNone/>
              <a:defRPr sz="900" b="1" i="0">
                <a:solidFill>
                  <a:srgbClr val="9B9B9B"/>
                </a:solidFill>
                <a:latin typeface="Poppins"/>
                <a:ea typeface="Poppins"/>
                <a:cs typeface="Poppins"/>
              </a:defRPr>
            </a:pPr>
            <a:r>
              <a:rPr sz="900" b="1" i="0">
                <a:solidFill>
                  <a:srgbClr val="9B9B9B"/>
                </a:solidFill>
                <a:latin typeface="Poppins"/>
                <a:ea typeface="Poppins"/>
                <a:cs typeface="Poppins"/>
              </a:rPr>
              <a:t>ENGINEERING MEANING</a:t>
            </a:r>
          </a:p>
        </p:txBody>
      </p:sp>
      <p:sp>
        <p:nvSpPr>
          <p:cNvPr id="2" name="Rectangle 1">
            <a:extLst>
              <a:ext uri="{FF2B5EF4-FFF2-40B4-BE49-F238E27FC236}">
                <a16:creationId xmlns:a16="http://schemas.microsoft.com/office/drawing/2014/main" id="{63529C0E-70FA-4C15-9B30-B56722F1113E}"/>
              </a:ext>
            </a:extLst>
          </p:cNvPr>
          <p:cNvSpPr>
            <a:spLocks noGrp="1"/>
          </p:cNvSpPr>
          <p:nvPr/>
        </p:nvSpPr>
        <p:spPr>
          <a:xfrm>
            <a:off x="1047750" y="685800"/>
            <a:ext cx="10001250" cy="809625"/>
          </a:xfrm>
          <a:prstGeom prst="rect">
            <a:avLst/>
          </a:prstGeom>
          <a:noFill/>
          <a:ln w="0">
            <a:noFill/>
            <a:prstDash val="solid"/>
          </a:ln>
        </p:spPr>
        <p:txBody>
          <a:bodyPr/>
          <a:lstStyle/>
          <a:p>
            <a:pPr>
              <a:buNone/>
              <a:defRPr sz="3600" b="1" i="0">
                <a:solidFill>
                  <a:srgbClr val="111111"/>
                </a:solidFill>
                <a:latin typeface="Poppins"/>
                <a:ea typeface="Poppins"/>
                <a:cs typeface="Poppins"/>
              </a:defRPr>
            </a:pPr>
            <a:r>
              <a:rPr sz="3600" b="1" i="0">
                <a:solidFill>
                  <a:srgbClr val="111111"/>
                </a:solidFill>
                <a:latin typeface="Poppins"/>
                <a:ea typeface="Poppins"/>
                <a:cs typeface="Poppins"/>
              </a:rPr>
              <a:t>The best product strategy needs the most oxygen</a:t>
            </a:r>
          </a:p>
        </p:txBody>
      </p:sp>
      <p:sp>
        <p:nvSpPr>
          <p:cNvPr id="3" name="Straight Connector 2">
            <a:extLst>
              <a:ext uri="{FF2B5EF4-FFF2-40B4-BE49-F238E27FC236}">
                <a16:creationId xmlns:a16="http://schemas.microsoft.com/office/drawing/2014/main" id="{E7C51690-2C8A-4CE7-81A3-E4FFAF9ABFC1}"/>
              </a:ext>
            </a:extLst>
          </p:cNvPr>
          <p:cNvSpPr>
            <a:spLocks noGrp="1"/>
          </p:cNvSpPr>
          <p:nvPr/>
        </p:nvSpPr>
        <p:spPr>
          <a:xfrm>
            <a:off x="1143000" y="1972903"/>
            <a:ext cx="9906000" cy="17821"/>
          </a:xfrm>
          <a:prstGeom prst="line">
            <a:avLst/>
          </a:prstGeom>
          <a:noFill/>
          <a:ln w="76200">
            <a:solidFill>
              <a:srgbClr val="FF6B00"/>
            </a:solidFill>
            <a:prstDash val="solid"/>
          </a:ln>
        </p:spPr>
      </p:sp>
      <p:pic>
        <p:nvPicPr>
          <p:cNvPr id="19" name="Picture 16"/>
          <p:cNvPicPr>
            <a:picLocks noChangeAspect="1"/>
          </p:cNvPicPr>
          <p:nvPr/>
        </p:nvPicPr>
        <p:blipFill>
          <a:blip r:embed="rId3"/>
          <a:stretch/>
        </p:blipFill>
        <p:spPr>
          <a:xfrm>
            <a:off x="1047750" y="2755303"/>
            <a:ext cx="5524500" cy="1918893"/>
          </a:xfrm>
          <a:prstGeom prst="rect">
            <a:avLst/>
          </a:prstGeom>
        </p:spPr>
      </p:pic>
      <p:sp>
        <p:nvSpPr>
          <p:cNvPr id="5" name="Rectangle 4">
            <a:extLst>
              <a:ext uri="{FF2B5EF4-FFF2-40B4-BE49-F238E27FC236}">
                <a16:creationId xmlns:a16="http://schemas.microsoft.com/office/drawing/2014/main" id="{0216223E-D939-4CE0-A3D0-D9827F1025C8}"/>
              </a:ext>
            </a:extLst>
          </p:cNvPr>
          <p:cNvSpPr>
            <a:spLocks noGrp="1"/>
          </p:cNvSpPr>
          <p:nvPr/>
        </p:nvSpPr>
        <p:spPr>
          <a:xfrm>
            <a:off x="7524750" y="2247900"/>
            <a:ext cx="3429000" cy="952500"/>
          </a:xfrm>
          <a:prstGeom prst="rect">
            <a:avLst/>
          </a:prstGeom>
          <a:noFill/>
          <a:ln w="0">
            <a:noFill/>
            <a:prstDash val="solid"/>
          </a:ln>
        </p:spPr>
        <p:txBody>
          <a:bodyPr/>
          <a:lstStyle/>
          <a:p>
            <a:pPr>
              <a:buNone/>
              <a:defRPr sz="7050" b="1" i="0">
                <a:solidFill>
                  <a:srgbClr val="111111"/>
                </a:solidFill>
                <a:latin typeface="Poppins"/>
                <a:ea typeface="Poppins"/>
                <a:cs typeface="Poppins"/>
              </a:defRPr>
            </a:pPr>
            <a:r>
              <a:rPr sz="7050" b="1" i="0">
                <a:solidFill>
                  <a:srgbClr val="111111"/>
                </a:solidFill>
                <a:latin typeface="Poppins"/>
                <a:ea typeface="Poppins"/>
                <a:cs typeface="Poppins"/>
              </a:rPr>
              <a:t>1.437</a:t>
            </a:r>
          </a:p>
        </p:txBody>
      </p:sp>
      <p:sp>
        <p:nvSpPr>
          <p:cNvPr id="6" name="Rectangle 5">
            <a:extLst>
              <a:ext uri="{FF2B5EF4-FFF2-40B4-BE49-F238E27FC236}">
                <a16:creationId xmlns:a16="http://schemas.microsoft.com/office/drawing/2014/main" id="{9802F0D8-3DD5-4726-ADEB-8270E2752D3A}"/>
              </a:ext>
            </a:extLst>
          </p:cNvPr>
          <p:cNvSpPr>
            <a:spLocks noGrp="1"/>
          </p:cNvSpPr>
          <p:nvPr/>
        </p:nvSpPr>
        <p:spPr>
          <a:xfrm>
            <a:off x="7572375" y="3238500"/>
            <a:ext cx="3333750" cy="304800"/>
          </a:xfrm>
          <a:prstGeom prst="rect">
            <a:avLst/>
          </a:prstGeom>
          <a:noFill/>
          <a:ln w="0">
            <a:noFill/>
            <a:prstDash val="solid"/>
          </a:ln>
        </p:spPr>
        <p:txBody>
          <a:bodyPr/>
          <a:lstStyle/>
          <a:p>
            <a:pPr>
              <a:buNone/>
              <a:defRPr sz="1950" b="0" i="0">
                <a:solidFill>
                  <a:srgbClr val="111111"/>
                </a:solidFill>
                <a:latin typeface="Poppins"/>
                <a:ea typeface="Poppins"/>
                <a:cs typeface="Poppins"/>
              </a:defRPr>
            </a:pPr>
            <a:r>
              <a:rPr sz="1950" b="0" i="0">
                <a:solidFill>
                  <a:srgbClr val="111111"/>
                </a:solidFill>
                <a:latin typeface="Poppins"/>
                <a:ea typeface="Poppins"/>
                <a:cs typeface="Poppins"/>
              </a:rPr>
              <a:t>mol O₂/h maximum OUR</a:t>
            </a:r>
          </a:p>
        </p:txBody>
      </p:sp>
      <p:sp>
        <p:nvSpPr>
          <p:cNvPr id="7" name="Straight Connector 6">
            <a:extLst>
              <a:ext uri="{FF2B5EF4-FFF2-40B4-BE49-F238E27FC236}">
                <a16:creationId xmlns:a16="http://schemas.microsoft.com/office/drawing/2014/main" id="{AC9C0A9A-3E6D-4ABB-A799-7BCE96A172FB}"/>
              </a:ext>
            </a:extLst>
          </p:cNvPr>
          <p:cNvSpPr>
            <a:spLocks noGrp="1"/>
          </p:cNvSpPr>
          <p:nvPr/>
        </p:nvSpPr>
        <p:spPr>
          <a:xfrm>
            <a:off x="7649497" y="3762375"/>
            <a:ext cx="3126657" cy="0"/>
          </a:xfrm>
          <a:prstGeom prst="line">
            <a:avLst/>
          </a:prstGeom>
          <a:noFill/>
          <a:ln w="76200">
            <a:solidFill>
              <a:srgbClr val="FF6B00"/>
            </a:solidFill>
            <a:prstDash val="solid"/>
          </a:ln>
        </p:spPr>
      </p:sp>
      <p:sp>
        <p:nvSpPr>
          <p:cNvPr id="8" name="Rectangle 7">
            <a:extLst>
              <a:ext uri="{FF2B5EF4-FFF2-40B4-BE49-F238E27FC236}">
                <a16:creationId xmlns:a16="http://schemas.microsoft.com/office/drawing/2014/main" id="{18814A77-FE63-4C2C-9765-09187658BF0F}"/>
              </a:ext>
            </a:extLst>
          </p:cNvPr>
          <p:cNvSpPr>
            <a:spLocks noGrp="1"/>
          </p:cNvSpPr>
          <p:nvPr/>
        </p:nvSpPr>
        <p:spPr>
          <a:xfrm>
            <a:off x="7572375" y="4191000"/>
            <a:ext cx="2857500" cy="228600"/>
          </a:xfrm>
          <a:prstGeom prst="rect">
            <a:avLst/>
          </a:prstGeom>
          <a:noFill/>
          <a:ln w="0">
            <a:noFill/>
            <a:prstDash val="solid"/>
          </a:ln>
        </p:spPr>
        <p:txBody>
          <a:bodyPr/>
          <a:lstStyle/>
          <a:p>
            <a:pPr>
              <a:buNone/>
              <a:defRPr sz="1350" b="1" i="0">
                <a:solidFill>
                  <a:srgbClr val="9B9B9B"/>
                </a:solidFill>
                <a:latin typeface="Poppins"/>
                <a:ea typeface="Poppins"/>
                <a:cs typeface="Poppins"/>
              </a:defRPr>
            </a:pPr>
            <a:r>
              <a:rPr sz="1350" b="1" i="0">
                <a:solidFill>
                  <a:srgbClr val="9B9B9B"/>
                </a:solidFill>
                <a:latin typeface="Poppins"/>
                <a:ea typeface="Poppins"/>
                <a:cs typeface="Poppins"/>
              </a:rPr>
              <a:t>Next design step</a:t>
            </a:r>
          </a:p>
        </p:txBody>
      </p:sp>
      <p:sp>
        <p:nvSpPr>
          <p:cNvPr id="9" name="Rectangle 8">
            <a:extLst>
              <a:ext uri="{FF2B5EF4-FFF2-40B4-BE49-F238E27FC236}">
                <a16:creationId xmlns:a16="http://schemas.microsoft.com/office/drawing/2014/main" id="{32A89811-F403-4A0F-934A-46AEB181137E}"/>
              </a:ext>
            </a:extLst>
          </p:cNvPr>
          <p:cNvSpPr>
            <a:spLocks noGrp="1"/>
          </p:cNvSpPr>
          <p:nvPr/>
        </p:nvSpPr>
        <p:spPr>
          <a:xfrm>
            <a:off x="7572375" y="4524375"/>
            <a:ext cx="3619500" cy="619125"/>
          </a:xfrm>
          <a:prstGeom prst="rect">
            <a:avLst/>
          </a:prstGeom>
          <a:noFill/>
          <a:ln w="0">
            <a:noFill/>
            <a:prstDash val="solid"/>
          </a:ln>
        </p:spPr>
        <p:txBody>
          <a:bodyPr/>
          <a:lstStyle/>
          <a:p>
            <a:pPr>
              <a:buNone/>
              <a:defRPr sz="2100" b="1" i="0">
                <a:solidFill>
                  <a:srgbClr val="111111"/>
                </a:solidFill>
                <a:latin typeface="Poppins"/>
                <a:ea typeface="Poppins"/>
                <a:cs typeface="Poppins"/>
              </a:defRPr>
            </a:pPr>
            <a:r>
              <a:rPr sz="2100" b="1" i="0">
                <a:solidFill>
                  <a:srgbClr val="111111"/>
                </a:solidFill>
                <a:latin typeface="Poppins"/>
                <a:ea typeface="Poppins"/>
                <a:cs typeface="Poppins"/>
              </a:rPr>
              <a:t>Compare oxygen demand with OTR and kLa.</a:t>
            </a:r>
          </a:p>
        </p:txBody>
      </p:sp>
      <p:sp>
        <p:nvSpPr>
          <p:cNvPr id="10" name="Rectangle 9">
            <a:extLst>
              <a:ext uri="{FF2B5EF4-FFF2-40B4-BE49-F238E27FC236}">
                <a16:creationId xmlns:a16="http://schemas.microsoft.com/office/drawing/2014/main" id="{EFCCFFBB-4748-40A6-A762-9CC09CC723E0}"/>
              </a:ext>
            </a:extLst>
          </p:cNvPr>
          <p:cNvSpPr>
            <a:spLocks noGrp="1"/>
          </p:cNvSpPr>
          <p:nvPr/>
        </p:nvSpPr>
        <p:spPr>
          <a:xfrm>
            <a:off x="1047750" y="5638800"/>
            <a:ext cx="9525000" cy="342900"/>
          </a:xfrm>
          <a:prstGeom prst="rect">
            <a:avLst/>
          </a:prstGeom>
          <a:noFill/>
          <a:ln w="0">
            <a:noFill/>
            <a:prstDash val="solid"/>
          </a:ln>
        </p:spPr>
        <p:txBody>
          <a:bodyPr/>
          <a:lstStyle/>
          <a:p>
            <a:pPr>
              <a:buNone/>
              <a:defRPr sz="1950" b="1" i="0">
                <a:solidFill>
                  <a:srgbClr val="111111"/>
                </a:solidFill>
                <a:latin typeface="Poppins"/>
                <a:ea typeface="Poppins"/>
                <a:cs typeface="Poppins"/>
              </a:defRPr>
            </a:pPr>
            <a:r>
              <a:rPr sz="1950" b="1" i="0">
                <a:solidFill>
                  <a:srgbClr val="111111"/>
                </a:solidFill>
                <a:latin typeface="Poppins"/>
                <a:ea typeface="Poppins"/>
                <a:cs typeface="Poppins"/>
              </a:rPr>
              <a:t>Kinetic model selection changes the operating decision.</a:t>
            </a:r>
          </a:p>
        </p:txBody>
      </p:sp>
      <p:sp>
        <p:nvSpPr>
          <p:cNvPr id="11" name="Straight Connector 10">
            <a:extLst>
              <a:ext uri="{FF2B5EF4-FFF2-40B4-BE49-F238E27FC236}">
                <a16:creationId xmlns:a16="http://schemas.microsoft.com/office/drawing/2014/main" id="{70232628-B0F1-4FED-9AD0-A39973420119}"/>
              </a:ext>
            </a:extLst>
          </p:cNvPr>
          <p:cNvSpPr>
            <a:spLocks noGrp="1"/>
          </p:cNvSpPr>
          <p:nvPr/>
        </p:nvSpPr>
        <p:spPr>
          <a:xfrm>
            <a:off x="1047750" y="6477000"/>
            <a:ext cx="10382250" cy="0"/>
          </a:xfrm>
          <a:prstGeom prst="line">
            <a:avLst/>
          </a:prstGeom>
          <a:noFill/>
          <a:ln w="9525">
            <a:solidFill>
              <a:srgbClr val="111111"/>
            </a:solidFill>
            <a:prstDash val="solid"/>
          </a:ln>
        </p:spPr>
      </p:sp>
      <p:sp>
        <p:nvSpPr>
          <p:cNvPr id="12" name="Rectangle 11">
            <a:extLst>
              <a:ext uri="{FF2B5EF4-FFF2-40B4-BE49-F238E27FC236}">
                <a16:creationId xmlns:a16="http://schemas.microsoft.com/office/drawing/2014/main" id="{36D96237-9EB3-4183-AE74-3E1ECB738815}"/>
              </a:ext>
            </a:extLst>
          </p:cNvPr>
          <p:cNvSpPr>
            <a:spLocks noGrp="1"/>
          </p:cNvSpPr>
          <p:nvPr/>
        </p:nvSpPr>
        <p:spPr>
          <a:xfrm>
            <a:off x="1047750" y="6572250"/>
            <a:ext cx="104775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CL 420</a:t>
            </a:r>
          </a:p>
        </p:txBody>
      </p:sp>
      <p:sp>
        <p:nvSpPr>
          <p:cNvPr id="13" name="Rectangle 12">
            <a:extLst>
              <a:ext uri="{FF2B5EF4-FFF2-40B4-BE49-F238E27FC236}">
                <a16:creationId xmlns:a16="http://schemas.microsoft.com/office/drawing/2014/main" id="{41C3CF24-C876-4212-8AA5-12D976C00041}"/>
              </a:ext>
            </a:extLst>
          </p:cNvPr>
          <p:cNvSpPr>
            <a:spLocks noGrp="1"/>
          </p:cNvSpPr>
          <p:nvPr/>
        </p:nvSpPr>
        <p:spPr>
          <a:xfrm>
            <a:off x="10858500" y="6572250"/>
            <a:ext cx="304800" cy="152400"/>
          </a:xfrm>
          <a:prstGeom prst="rect">
            <a:avLst/>
          </a:prstGeom>
          <a:noFill/>
          <a:ln w="0">
            <a:noFill/>
            <a:prstDash val="solid"/>
          </a:ln>
        </p:spPr>
        <p:txBody>
          <a:bodyPr/>
          <a:lstStyle/>
          <a:p>
            <a:pPr>
              <a:buNone/>
              <a:defRPr sz="825" b="1" i="0">
                <a:solidFill>
                  <a:srgbClr val="9B9B9B"/>
                </a:solidFill>
                <a:latin typeface="Poppins"/>
                <a:ea typeface="Poppins"/>
                <a:cs typeface="Poppins"/>
              </a:defRPr>
            </a:pPr>
            <a:r>
              <a:rPr sz="825" b="1" i="0">
                <a:solidFill>
                  <a:srgbClr val="9B9B9B"/>
                </a:solidFill>
                <a:latin typeface="Poppins"/>
                <a:ea typeface="Poppins"/>
                <a:cs typeface="Poppins"/>
              </a:rPr>
              <a:t>06</a:t>
            </a:r>
          </a:p>
        </p:txBody>
      </p:sp>
    </p:spTree>
    <p:extLst>
      <p:ext uri="{BB962C8B-B14F-4D97-AF65-F5344CB8AC3E}">
        <p14:creationId xmlns:p14="http://schemas.microsoft.com/office/powerpoint/2010/main" val="17254922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897</Words>
  <Application>Microsoft Office PowerPoint</Application>
  <DocSecurity>0</DocSecurity>
  <PresentationFormat>Widescreen</PresentationFormat>
  <Paragraphs>99</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Poppins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Mridul Sharma</cp:lastModifiedBy>
  <cp:revision>1</cp:revision>
  <dcterms:created xsi:type="dcterms:W3CDTF">2026-09-30T09:17:17Z</dcterms:created>
  <dcterms:modified xsi:type="dcterms:W3CDTF">2026-09-30T09:26:01Z</dcterms:modified>
</cp:coreProperties>
</file>